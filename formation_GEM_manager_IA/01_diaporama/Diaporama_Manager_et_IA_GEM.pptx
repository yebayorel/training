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164592" cy="2697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2410C"/>
                </a:solidFill>
                <a:latin typeface="Verdana"/>
              </a:rPr>
              <a:t>FORMATION À DISTANCE — 1 JOUR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33272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Manager aujourd'hui :</a:t>
            </a:r>
          </a:p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posture et intelligence</a:t>
            </a:r>
          </a:p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artificielle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006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i="0">
                <a:solidFill>
                  <a:srgbClr val="EFF2F7"/>
                </a:solidFill>
                <a:latin typeface="Verdana"/>
              </a:rPr>
              <a:t>Psychologie du dirigeant  •  IA et responsabilité en 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8064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EFF2F7"/>
                </a:solidFill>
                <a:latin typeface="Verdana"/>
              </a:rPr>
              <a:t>GEM FORMATION   –   TP Manager d'Établissement Marchand   –   9h00 → 17h00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Votre journée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9h00  Ouverture et cadre commun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9h20  La psychologie du dirigeant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10h30  Pause – 15 minutes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12h30  Déjeuner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13h30  IA et responsabilité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15h15  Pause – 15 minutes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17h00  Clôture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7 heures. Deux univers. Une seule question : quel chef devenez-vous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Nos règles à distance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417320"/>
            <a:ext cx="1856231" cy="4754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À LIRE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Caméra allumée si vous le pouvez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Micro coupé hors prise de parole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main levée vaut la parole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tchat sert aux questions, j'y réponds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 souci technique ? Écrivez tout de suite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Besoin d'adaptation ? Dites-le maintenant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Aucun enregistrement. Une gêne à montrer votre cadre ? Dites-le-moi.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soir, vous saurez…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Nommer la place du responsable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Choisir un style selon la situation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Distinguer exigence et toxicité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Tenir un brief d'équipe sous tension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Situer une IA dans l'IA Act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Protéger les données de votre équipe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Lancer 3 usages IA dès lundi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Le matin nourrit directement le bloc 1 du titre : manager l'équipe.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que vous allez devenir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Manager d'établissement marchand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Rayon, magasin, point de vente, équipe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Entre la direction et le terrain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Comptable des résultats, garant du climat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Deux missions qui se contredisent souvent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Aujourd'hui, on travaille cette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Tout ce qu'on voit aujourd'hui se joue en magasin, pas dans un manuel.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1  –  Le thermomètre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Faire émerger les représentations du groupe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Une règle de 0 à 10 s'affiche à l'écran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0 : « mon chef est un ami »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10 : « mon chef est un adversaire »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Écrivez votre chiffre dans le tchat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Trois volontaires expliquent leur note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Personne ne débat : on écoute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Tchat de la visioconférence. Aucun outil supplémentaire.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C2410C"/>
                </a:solidFill>
                <a:latin typeface="Verdana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La psychologie</a:t>
            </a:r>
          </a:p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du dirigeant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C2410C"/>
                </a:solidFill>
                <a:latin typeface="Verdana"/>
              </a:rPr>
              <a:t>9h20 – 12h30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2514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Dans sa tête : ce qu'il porte vraiment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Ni ami, ni ennemi : la juste place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Quatre styles, quatre situations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Exigeant ou toxique : la frontière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Langage, posture, brief d'équipe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Diriger,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c'est arbitrer seul.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Et assumer devant tout le magasin.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que le dirigeant 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survie économique de l'enseigne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paie de chacun, tous les mois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Des informations qu'il ne peut dire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décisions qu'il n'a pas choisies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regard permanent de l'équipe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Il ne voit pas le même tableau de bord que vous. Ni la même échéance.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La solitude du décideur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ne peut pas se plaindre en interne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ne peut pas tout expliquer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arbitre avec 60 % de l'information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décide quand même : c'est le métier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Conséquence : il paraît froid, fermé, pressé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Ce n'est pas du mépris : c'est de la charge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H. Mintzberg, « Le manager au quotidien », rôles décisionnels.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Sa double loyauté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Vers le haut : siège, marge, objectifs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Vers le bas : équipe, planning, conditions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deux tirent en sens inverse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devient un traducteur permanent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Vous serez exactement à cette place demain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Exemple : la direction impose − 2 heures de planning. Vous annoncez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qu'on croit / ce qui 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212080" cy="6583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On croit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« Il s'en fiche »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« Il décide seul »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« Il ne nous dit rien »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« Il a tout le pouvoir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1600200"/>
            <a:ext cx="5212080" cy="65836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Réalité fréquente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Il encaisse sans le montrer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Il subit des contraintes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Il est tenu à la confidentialité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Il rend des comptes aussi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Comprendre n'est pas excuser. Comprendre, c'est mieux négocier.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Ni ami.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Ni ennemi.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Une troisième place existe.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Les trois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L'ami : je veux être aimé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Résultat : je n'ose plus recadrer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L'ennemi : je veux être craint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Résultat : on me ment pour se protéger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garant : je tiens le cadre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Résultat : on sait à quoi s'attendre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VIDÉO 1 – « Les trois positions du manager » (2 min 30).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piège du chef sorti du 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Hier collègue, aujourd'hui responsable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Même pause, même groupe, mêmes blagues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Puis il faut refuser un samedi de repos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Et là, l'amitié devient une dette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règle se pose avant d'en avoir besoin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Situation n°1 en établissement marchand. À traiter dès le premier jour.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manager garant du cadre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défend la règle, pas sa personne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est prévisible : même règle pour tous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sépare la personne du comportement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peut être chaleureux ET ferme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Chaleur sur la relation, fermeté sur le cadre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C'est la posture « basse en forme, haute en fond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Proximité : la bonne distance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212080" cy="6583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Trop près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Confidences réciproques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Sorties en petit comité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Favoritisme perçu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Recadrage impossible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1600200"/>
            <a:ext cx="5212080" cy="65836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Juste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Intérêt sincère pour l'autre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Mêmes égards pour tous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Vie privée respectée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Décision assumable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Question test : « Pourrais-je dire cela à toute l'équipe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Trois phrases qui coûtent 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« Entre nous, le siège se trompe »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Vous cassez votre propre autorité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« Je te le dis, mais garde-le pour toi »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Vous créez un cercle, donc des exclus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« De toute façon, on n'y peut rien »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Vous validez l'impuissance de l'équipe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Exercice éclair dans le tchat : reformulez la première en version garante.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Il n'y a pas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de bon style.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Il y a le style que la situation réclame.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Quatre styles, quatre usages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Directif : je dis quoi et comment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Rush, sécurité, saisonnier de la veille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Persuasif : j'explique et j'embarque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Nouveau planning, nouvelle procédure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Participatif : je décide avec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Équipe compétente mais démotivée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Délégatif : je confie et je suis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P. Hersey &amp; K. Blanchard, leadership situationnel.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L'erreur la plus fréquente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Utiliser toujours le même style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Directif avec un ancien : il se ferme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Délégatif avec un saisonnier : il coule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Participatif un samedi de soldes : on perd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Le style se choisit selon la personne ET la tâche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Même vendeur, deux tâches : deux styles différents.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2  –  Les quatre coins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Choisir le bon style sous contrainte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Quatre styles, quatre numéros : 1 à 4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Je lis une situation de magasin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10 secondes : votre chiffre dans le tchat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Je choisis deux personnes qui justifient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On révèle le style attendu et pourquoi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8 situations s'enchaînent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Tchat, ou sondage intégré à la visio si disponible (kit jeux, fiche J2)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Être exigeant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n'est pas être dur.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La différence tient en un mot : le cadre.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La rigueur qui fait grandir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attente claire, dite à l'avance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même règle appliquée à tous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 retour rapide, précis, privé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moyens donnés avant le résultat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L'engagement tenu, même petit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La ténacité : tenir la règle le 40e jour comme le premier.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Exigeant ou toxique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212080" cy="6583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Toxique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Critique la personne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Humilie devant les clients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Règles qui changent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Contrôle chaque geste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Silence punitif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1600200"/>
            <a:ext cx="5212080" cy="65836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Exigeant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Critique le résultat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Recadre en réserve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Règles stables et dites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Contrôle les jalons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Dit les choses vite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Repère : l'exigence donne un chemin, la toxicité ferme les portes.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Les dégâts, côté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Hypervigilance, fatigue, sommeil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Plus personne n'ose signaler d'erreur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Absentéisme, puis départs en série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meilleurs vendeurs partent d'abord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Facteurs de RPS : rapports sociaux dégradés (INRS)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INRS, les 6 familles de facteurs de risques psychosociaux.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Et côté juridique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Obligation de sécurité de l'employeur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Code du travail, article L.4121-1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Interdiction du harcèlement moral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Code du travail, article L.1152-1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manager engage aussi sa responsabilité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Délégation de pouvoir = délégation de risque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Sources : Légifrance, Code du travail (à vérifier à la date du jour).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3  –  Exigeant ou toxique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Tracer collectivement la frontière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Sous-groupes de 4 en salles séparées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12 situations dans un document partagé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Trois colonnes : exigeant / limite / toxique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10 minutes, puis retour en salle plénière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Chaque groupe défend sa situation « limite »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Synthèse : 3 critères retenus à l'écran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Salles séparées + fiche J3 envoyée en PDF avant la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On ne retient pas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ce que vous dites.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On retient comment vous le dites.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Trois canaux, un seul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mots : précis, courts, concrets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voix : débit, volume, silences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corps : appuis, mains, regard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Si les trois se contredisent, on croit le corps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C'est là que naît le « double message 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Le non-verbal prime surtout sur l'émotion et l'attitude, pas le contenu.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Votre posture en 5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Deux pieds au sol, poids réparti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Épaules basses, menton horizontal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Mains visibles, au-dessus de la taille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Regard balayé : 3 secondes par personne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Silence de 2 secondes avant l'essentiel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Debout derrière votre écran pendant 60 secondes : on essaie tout de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La même posture, en visio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Caméra à hauteur des yeux, pas plus bas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Regardez l'objectif, pas votre image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Buste visible : les mains doivent entrer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Nommez les gens : « Karim, ton avis ? »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À distance, le silence dure deux fois plus longtemps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En visio, tout ce qui n'est pas nommé explicitement n'existe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Dire ce qui ne va pas : DESC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Décrire les faits, sans adjectif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« La caisse a ouvert à 9h12 au lieu de 9h »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Exprimer l'effet, en « je »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« J'ai eu six clients en attente à l'entrée »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Suggérer une solution précise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Conclure sur un accord daté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Jamais devant un client ni devant l'équipe. Toujours dans les 48 heures.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brief d'équipe : avant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 objectif écrit en une phrase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Trois points maximum, pas un de plus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bonnes personnes, pas toutes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durée annoncée et tenue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Sans objectif écrit : annulez, vous gagnez 1 heure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Règle simple : pas d'ordre du jour, pas de réunion.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brief d'équipe : pendant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rappelez l'objectif en 30 secondes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parlez en dernier sur les avis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faites parler les silencieux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coupez le hors-sujet avec respect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clarifiez : qui fait quoi pour quand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Si vous parlez plus de 40 % du temps, ce n'est plus un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Quatre profils difficiles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bavard : cadrez le temps de parole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sceptique : demandez sa condition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silencieux : questionnez-le en premier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démotivé : voyez-le après, en privé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Jamais d'affrontement public : vous perdez deux fois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Vous allez tous les rencontrer dans le jeu de rôle suivant.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4  –  Le brief de 8h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Se mettre dans la peau du manager, en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Un manager, quatre rôles secrets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Sujet : le planning des fêtes est refusé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8 minutes de brief, chrono partagé à l'écran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Les autres observent avec la grille n°1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Débrief : d'abord le manager parle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Puis les rôles, puis les observateurs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Rôles envoyés en message privé + grille d'évaluation n°1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qu'on retient du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dirigeant arbitre avec l'info qu'il a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Ni ami, ni ennemi : garant du cadre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style se choisit, il ne se subit pas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L'exigence ouvre, la toxicité ferme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brief se gagne avant de le lancer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À vous : QUIZ n°1, 10 questions, 10 minutes, sans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12294A"/>
                </a:solidFill>
                <a:latin typeface="Verdana"/>
              </a:rPr>
              <a:t>Déjeuner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4A5568"/>
                </a:solidFill>
                <a:latin typeface="Verdana"/>
              </a:rPr>
              <a:t>Reconnexion à 13h30 précises – même lien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C2410C"/>
                </a:solidFill>
                <a:latin typeface="Verdana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IA et responsabilité</a:t>
            </a:r>
          </a:p>
          <a:p>
            <a:pPr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en 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C2410C"/>
                </a:solidFill>
                <a:latin typeface="Verdana"/>
              </a:rPr>
              <a:t>13h30 – 17h00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2514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Ce qu'est vraiment une IA générative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RGPD : l'essentiel pour un responsable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IA Act : les 4 niveaux de risque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Ce que vous n'avez pas le droit de faire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2400" b="0" i="0">
                <a:solidFill>
                  <a:srgbClr val="EFF2F7"/>
                </a:solidFill>
                <a:latin typeface="Verdana"/>
              </a:rPr>
              <a:t>•  L'IA qui vous rend du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5  –  Vrai ou faux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Réveiller le groupe et mesurer les idées reçues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Debout, et caméra si vous le pouvez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Vrai : pouce levé. Faux : pouce baissé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Interdit de ne pas répondre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Deux personnes justifient à chaque fois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Je donne la réponse et la source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6 affirmations, rythme rapide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Aucun. 6 affirmations (kit jeux, fiche J5)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Une IA générative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ne sait rien.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Elle calcule ce qui est probable après vos mots.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Comment ça marche, vraiment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Elle a lu des milliards de textes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Elle prédit le mot suivant le plus probable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Elle n'a ni intention, ni conscience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Elle n'a aucune idée du vrai et du faux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Image : un correcteur prédictif très, très entraîné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Conséquence directe : elle a toujours l'air sûre d'elle.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Les trois pièges à connaître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L'hallucination : elle invente, avec aplomb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Chiffres, articles de loi, noms, citations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biais : elle reproduit ses données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Un historique d'embauche biaisé se rejoue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La fuite : ce que vous saisissez peut sortir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Selon l'outil et son hébergement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Règle d'or : aucune donnée que vous n'afficheriez pas en salle de pause.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biais, en magasin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417320"/>
            <a:ext cx="1856231" cy="4754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TP MEM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Vous triez 300 CV de saisonniers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L'outil apprend sur vos embauches passées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reproduit vos préférences d'hier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Âge, quartier, prénom, durée d'inactivité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Résultat : une discrimination automatisée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Bloc 1 du titre : lutter contre les discriminations. C'est exactement ça.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qu'elle fait bien / 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212080" cy="65836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Confiez-lui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Reformuler, résumer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Structurer un brief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Traduire, corriger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Faire 20 variantes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156B36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Préparer un questionnement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1600200"/>
            <a:ext cx="5212080" cy="6583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73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Verdana"/>
              </a:rPr>
              <a:t>Ne lui confiez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487168"/>
            <a:ext cx="4846320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Un chiffre à vérifier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Une référence juridique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Une décision sur une personne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Un diagnostic humain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i="0">
                <a:solidFill>
                  <a:srgbClr val="B91C1C"/>
                </a:solidFill>
                <a:latin typeface="Verdana"/>
              </a:rPr>
              <a:t>▪  </a:t>
            </a:r>
            <a:r>
              <a:rPr sz="2400" b="0" i="0">
                <a:solidFill>
                  <a:srgbClr val="1A1A2E"/>
                </a:solidFill>
                <a:latin typeface="Verdana"/>
              </a:rPr>
              <a:t>Le dernier mot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Elle est un stagiaire brillant et amnésique : on relit toujours.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Vos équipes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sont des personnes.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Leurs données leur appartiennent. Toujours.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RGPD : le minimum vital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finalité précise, dite à l'avance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base légale, pas « j'en ai besoin »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 strict nécessaire, rien de plus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durée de conservation décidée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Des personnes informées, en clair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Source : Règlement (UE) 2016/679, articles 5 et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Le consentement du salarié est rarement valable : lien de subordination.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 réflexe des 4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Pourquoi je collecte cette donnée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En ai-je vraiment besoin pour ça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Qui y accède, et pourquoi lui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Quand est-ce que je l'efface ?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Une seule réponse floue = on ne collecte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30 secondes de réflexe vous évitent 3 mois de contentieux.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Surveiller son équipe : les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Pas de collecte à l'insu des salariés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Code du travail, article L.1222-4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Information et consultation du CSE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Code du travail, article L.2312-38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Contrôle proportionné au but poursuivi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Pas de caméra braquée en continu sur une caisse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Sources : Légifrance et CNIL, fiches « travail et données » (cnil.fr).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L'article 22, celui qui piège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décision 100 % automatisée est interdite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Si l'effet sur la personne est significatif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Exemples : tri de CV, refus, sanction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faut un humain qui peut dire non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Un humain qui valide tout n'est pas un humain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RGPD, article 22. C'est le pont direct vers l'IA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L'IA Act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ne classe pas les outils.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Il classe les usages que vous en faites.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IA Act : de quoi parle-t-on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Règlement (UE) 2024/1689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En vigueur depuis le 1er août 2024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Il s'applique par étapes jusqu'en 2027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Deux rôles : fournisseur et déployeur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Vous serez presque toujours déployeur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Journal officiel de l'UE. Calendrier à revalider régulièrement.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Les quatre niveaux de risque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Inacceptable : interdit, sans exception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Émotions au travail, notation sociale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Haut risque : autorisé, très encadré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Embauche, promotion, planning, suivi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Risque limité : obligation de transparence</a:t>
            </a:r>
          </a:p>
          <a:p>
            <a:pPr lvl="1">
              <a:lnSpc>
                <a:spcPct val="122000"/>
              </a:lnSpc>
              <a:spcAft>
                <a:spcPts val="6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Dire que c'est une IA, marquer les contenus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Risque minimal : usage libre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VIDÉO 2 – « La pyramide des risques de l'IA Act » (2 min 55).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Interdit : ce qui vous concerne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Détecter les émotions des salariés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Sauf raison médicale ou de sécurité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Noter socialement les personnes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Exploiter une vulnérabilité pour influencer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Source : IA Act, article 5, applicable depuis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Une caméra qui mesure le sourire des hôtesses de caisse : interdite.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Haut risque : le quotidien du 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Trier, filtrer, classer des candidatures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Évaluer, promouvoir, mettre fin à un contrat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Bâtir le planning automatiquement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Suivre et noter la performance vendeur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Source : IA Act, annexe III, point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Obligation clé : informer les représentants du personnel avant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Article 4 : votre obligation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417320"/>
            <a:ext cx="1856231" cy="4754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Former votre personnel à l'IA qu'il utilise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Niveau adapté au rôle et au risque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Applicable depuis le 2 février 2025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Aucune taille d'entreprise exemptée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Cette journée y contribue : gardez la preuve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IA Act, article 4 (littératie en matière d'IA).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que ça coûte si on 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Pratique interdite : jusqu'à 35 M€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Ou 7 % du chiffre d'affaires mondial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Autres manquements : jusqu'à 15 M€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Ou 3 % du chiffre d'affaires mondial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RGPD : jusqu'à 20 M€ ou 4 %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Le plus élevé des deux montants s'applique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Le risque réel pour une enseigne : l'image, le contentieux, le CSE.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12294A"/>
                </a:solidFill>
                <a:latin typeface="Verdana"/>
              </a:rPr>
              <a:t>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4A5568"/>
                </a:solidFill>
                <a:latin typeface="Verdana"/>
              </a:rPr>
              <a:t>15 minutes – reprise à 15h30, caméra allumée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6  –  Le tri des risques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Savoir classer un usage avant de l'autoriser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Sous-groupes de 4 en salles séparées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12 usages réels d'un établissement marchand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Classez chacun dans l'un des 4 niveaux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8 minutes, puis retour en plénière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Un groupe défend, un autre conteste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Correction avec l'article applicable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Salles séparées + fiche J6 (tableau à compléter)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L'outil n'est jamais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responsable.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Celui qui l'a mis en service, oui.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Vos cinq devoirs de déployeur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Savoir quel outil fait quoi, chez vous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Garder un humain qui peut trancher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Informer les personnes concernées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Consulter les représentants du personnel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Tracer : qui a décidé quoi, et quand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Source : IA Act, article 26 (obligations des déployeurs).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La supervision humaine réelle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Avoir le temps de vérifier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Avoir la compétence pour contredire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Avoir le droit de ne pas suivre l'IA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Et que ça n'ait aucune conséquence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Sinon : supervision de façade, risque maximal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Question test : quand avez-vous dit non à l'outil pour la dernière fois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Trois réflexes avant de lancer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417320"/>
            <a:ext cx="1856231" cy="4754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À GARDER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Y a-t-il des données personnelles dedans ?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Si oui : finalité, base légale, durée, information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L'usage touche-t-il une décision RH ?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Si oui : haut risque, humain obligatoire, CSE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Où sont hébergées les données ?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Hors UE : encadrement du transfert à vérifier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Ces 3 questions tiennent sur une carte. Elle est dans vos ressources.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7  –  Le prompt qui fuit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Transformer un usage risqué en usage conforme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Je partage un prompt réel et dangereux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Il contient nom, santé, avis sur une vendeuse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Par deux, en salle séparée : ce qui cloche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Réécrivez-le en version conforme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Deux binômes lisent leur version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2600" b="1" i="0">
                <a:solidFill>
                  <a:srgbClr val="156B36"/>
                </a:solidFill>
                <a:latin typeface="Verdana"/>
              </a:rPr>
              <a:t>6.  </a:t>
            </a:r>
            <a:r>
              <a:rPr sz="2600" b="0" i="0">
                <a:solidFill>
                  <a:srgbClr val="1A1A2E"/>
                </a:solidFill>
                <a:latin typeface="Verdana"/>
              </a:rPr>
              <a:t>On compare avec la version de référence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Partage d'écran + fiche J7 envoyée avant la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L'IA ne remplace pas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le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Elle lui rend les heures qu'il n'a plus.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Où vous gagnez du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Comptes rendus de brief structurés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Préparation d'un entretien difficile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Trames, procédures, modes opératoires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Argumentaires et objections produits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Analyse d'un texte long, 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Aucun de ces usages n'est à haut risque, s'il reste anonymisé.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Un bon prompt en 4 blocs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Rôle : « Tu es chef de rayon… »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Contexte : enseigne, taille, contrainte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Tâche : un seul verbe, très précis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Format : longueur, plan, ton attendu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Et toujours : « dis-moi ce qu'il te manque 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Le prompt est un brief. Un mauvais brief donne un mauvais stagiaire.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Souveraineté : la question qui fâche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417320"/>
            <a:ext cx="1856231" cy="4754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À GARDER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Où sont stockées vos données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Qui peut y accéder, sous quelle loi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Sont-elles utilisées pour l'entraînement 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Pouvez-vous tout récupérer et partir ?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Exigez ces 4 réponses par écrit au fournisseur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Un hébergement UE ne suffit pas : regardez le droit applicable.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5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JEU 8  –  Mon chantier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194560" cy="5120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727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56B36"/>
                </a:solidFill>
                <a:latin typeface="Verdana"/>
              </a:rPr>
              <a:t>Repartir avec un plan applicable dès lundi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156B36"/>
                </a:solidFill>
                <a:latin typeface="Verdana"/>
              </a:rPr>
              <a:t>1.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Listez vos tâches répétitives de la semaine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156B36"/>
                </a:solidFill>
                <a:latin typeface="Verdana"/>
              </a:rPr>
              <a:t>2.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Entourez celle qui vous coûte le plus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156B36"/>
                </a:solidFill>
                <a:latin typeface="Verdana"/>
              </a:rPr>
              <a:t>3.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Vérifiez-la avec les 3 réflexes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156B36"/>
                </a:solidFill>
                <a:latin typeface="Verdana"/>
              </a:rPr>
              <a:t>4.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Rédigez le prompt en 4 blocs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156B36"/>
                </a:solidFill>
                <a:latin typeface="Verdana"/>
              </a:rPr>
              <a:t>5.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Trois volontaires présentent en 60 secondes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Materiel : Fiche J8 « Mon plan 30 jours » + grille d'évaluation n°2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Ce qu'on retient de l'après-midi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L'IA prédit, elle ne sait pas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Données : finalité, minimum, durée, info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L'IA Act classe les usages, pas les outils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Embauche et planning = haut risque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Article 4 : former, c'est obligatoire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À vous : QUIZ n°2, 10 questions, 10 minutes, sans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Vous ne serez pas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Verdana"/>
              </a:rPr>
              <a:t>des chefs parfaits.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Verdana"/>
              </a:rPr>
              <a:t>Vous serez des chefs prévisibles. C'est mieux.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Avant de vous déconnecter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325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Votre plan 30 jours est écrit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Une action, une date, une personne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Les fiches ressources restent à vous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800" b="1" i="0">
                <a:solidFill>
                  <a:srgbClr val="C2410C"/>
                </a:solidFill>
                <a:latin typeface="Verdana"/>
              </a:rPr>
              <a:t>▪  </a:t>
            </a:r>
            <a:r>
              <a:rPr sz="2800" b="0" i="0">
                <a:solidFill>
                  <a:srgbClr val="1A1A2E"/>
                </a:solidFill>
                <a:latin typeface="Verdana"/>
              </a:rPr>
              <a:t>L'évaluation à chaud : 3 minutes</a:t>
            </a:r>
          </a:p>
          <a:p>
            <a:pPr lvl="1">
              <a:lnSpc>
                <a:spcPct val="122000"/>
              </a:lnSpc>
              <a:spcAft>
                <a:spcPts val="1000"/>
              </a:spcAft>
            </a:pPr>
            <a:r>
              <a:rPr sz="2400" b="1" i="0">
                <a:solidFill>
                  <a:srgbClr val="4A5568"/>
                </a:solidFill>
                <a:latin typeface="Verdana"/>
              </a:rPr>
              <a:t>      –  </a:t>
            </a:r>
            <a:r>
              <a:rPr sz="2400" b="0" i="0">
                <a:solidFill>
                  <a:srgbClr val="4A5568"/>
                </a:solidFill>
                <a:latin typeface="Verdana"/>
              </a:rPr>
              <a:t>Merci pour votre énergie et votre franchise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94A"/>
                </a:solidFill>
                <a:latin typeface="Verdana"/>
              </a:rPr>
              <a:t>Une question après la formation ? Elle mérite quand même une réponse.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4A5568"/>
                </a:solidFill>
                <a:latin typeface="Verdana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