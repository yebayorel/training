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[S00] Vidéo d'introduction (Remotion, 10 s). Lancer en boucle pendant l'installation du public. La macro VBA « YebaAppliquerAnimations » la règle en lecture automatique.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[S01] PRÉSENTATION — durée ≈ 60 s</a:t>
            </a:r>
          </a:p>
          <a:p/>
          <a:p>
            <a:r>
              <a:t>CE QUE VOUS DITES / À SAVOIR :</a:t>
            </a:r>
          </a:p>
          <a:p>
            <a:r>
              <a:t>Accueil. Laisser la vidéo d'intro tourner pendant que la salle s'installe. Puis : « Bonsoir à toutes et à tous. Merci d'être là. Ce soir, on ne va pas vous parler d'IA comme on en parle partout. On va vous parler de savoir. » Slogan : extrait du document de marque YEBA FORMATIONS (pièce jointe).</a:t>
            </a:r>
          </a:p>
          <a:p/>
          <a:p>
            <a:r>
              <a:t>VISUEL : Fond noir. Logo YEBA (version fond sombre) centré en grand, qui « respire » (léger zoom). Slogan en dessous, la 2e ligne en or.</a:t>
            </a:r>
          </a:p>
          <a:p/>
          <a:p>
            <a:r>
              <a:t>ANIMATION : Précédée de la vidéo Remotion « yeba-intro.mp4 » (10 s) en plein écran. Transition Morphose vers S02 : le logo rétrécit et file en haut à gauche.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[S02] PRÉSENTATION — durée ≈ 60 s</a:t>
            </a:r>
          </a:p>
          <a:p/>
          <a:p>
            <a:r>
              <a:t>CE QUE VOUS DITES / À SAVOIR :</a:t>
            </a:r>
          </a:p>
          <a:p>
            <a:r>
              <a:t>La promesse de la soirée, en une phrase. « Vous êtes dirigeants. Vous n'avez pas besoin d'un 47e article sur ChatGPT. Vous avez besoin de savoir quoi décider lundi matin. C'est l'objet de cette soirée. »</a:t>
            </a:r>
          </a:p>
          <a:p/>
          <a:p>
            <a:r>
              <a:t>VISUEL : Grille asymétrique : phrase alignée à gauche sur les 2/3 de l'écran, bandeau or vertical à droite (objet !!barre).</a:t>
            </a:r>
          </a:p>
          <a:p/>
          <a:p>
            <a:r>
              <a:t>ANIMATION : Morphose (le logo arrive en haut à gauche). Ligne 1 en fondu, ligne 2 en or 0,6 s après (VBA).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[S03] PRÉSENTATION — durée ≈ 45 s</a:t>
            </a:r>
          </a:p>
          <a:p/>
          <a:p>
            <a:r>
              <a:t>CE QUE VOUS DITES / À SAVOIR :</a:t>
            </a:r>
          </a:p>
          <a:p>
            <a:r>
              <a:t>Présenter le déroulé en 30 secondes. Durées indicatives (total 75 min) : Présentation 6 · Histoire 10 · Offre 10 · Formations 16 · Applications &amp; sites 13 · Audit &amp; devis 10 · Mot de fin 10. Annoncer l'offre spéciale soirée à la fin : cela retient l'attention jusqu'au bout.</a:t>
            </a:r>
          </a:p>
          <a:p/>
          <a:p>
            <a:r>
              <a:t>VISUEL : Chronologie verticale épurée des 7 étapes. Un marqueur or (!!marqueur) désigne l'étape en cours ; les étapes à venir sont en gris.</a:t>
            </a:r>
          </a:p>
          <a:p/>
          <a:p>
            <a:r>
              <a:t>ANIMATION : Morphose. Ce même slide revient à chaque changement de partie : le marqueur or glisse sur l'étape suivante (effet « GPS »).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[S04] PRÉSENTATION — durée ≈ 120 s</a:t>
            </a:r>
          </a:p>
          <a:p/>
          <a:p>
            <a:r>
              <a:t>CE QUE VOUS DITES / À SAVOIR :</a:t>
            </a:r>
          </a:p>
          <a:p>
            <a:r>
              <a:t>Chacun se présente en 30 secondes maximum : prénom, rôle, UNE anecdote. ⚠️ Rôles de Stan et Antho non communiqués : à compléter. RGPD : l'usage de vos photos sur un support projeté et éventuellement partagé suppose votre accord écrit (droit à l'image) — à formaliser pour Stan et Antho.</a:t>
            </a:r>
          </a:p>
          <a:p/>
          <a:p>
            <a:r>
              <a:t>VISUEL : Trois cartes verticales ; cercle photo (à remplacer par vos portraits) cerclé d'or, nom en blanc, rôle en gris.</a:t>
            </a:r>
          </a:p>
          <a:p/>
          <a:p>
            <a:r>
              <a:t>ANIMATION : Morphose. Cartes en apparition échelonnée gauche → droite (VBA, 0,3 s d'écart). Chaque intervenant prend la parole quand sa carte apparaît.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[S05] PRÉSENTATION — durée ≈ 75 s</a:t>
            </a:r>
          </a:p>
          <a:p/>
          <a:p>
            <a:r>
              <a:t>CE QUE VOUS DITES / À SAVOIR :</a:t>
            </a:r>
          </a:p>
          <a:p>
            <a:r>
              <a:t>Ne pas lire la liste. Dire : « Quand on vous parle de RGPD et d'IA Act, on ne vous récite pas un article de blog. » Qualiopi : n° 25FOR02027.1 selon la table CONFIG SYSTÈME d'Airtable, valide jusqu'au 16/02/2027 — ⚠️ vos préférences indiquent 25FOF02027.1 : vérifier sur le certificat avant toute diffusion. Intitulés exacts des certifications Google à vérifier sur les attestations.</a:t>
            </a:r>
          </a:p>
          <a:p/>
          <a:p>
            <a:r>
              <a:t>VISUEL : Grille 3 × 2 de pastilles au contour or, un mot-clé par pastille, très grand.</a:t>
            </a:r>
          </a:p>
          <a:p/>
          <a:p>
            <a:r>
              <a:t>ANIMATION : Morphose. Pastilles en zoom léger, une par une (VBA).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[S06] HISTOIRE — durée ≈ 10 s</a:t>
            </a:r>
          </a:p>
          <a:p/>
          <a:p>
            <a:r>
              <a:t>CE QUE VOUS DITES / À SAVOIR :</a:t>
            </a:r>
          </a:p>
          <a:p>
            <a:r>
              <a:t>Transition silencieuse. Laisser la Morphose parler.</a:t>
            </a:r>
          </a:p>
          <a:p/>
          <a:p>
            <a:r>
              <a:t>VISUEL : Même slide que S03, marqueur or sur « Histoire ».</a:t>
            </a:r>
          </a:p>
          <a:p/>
          <a:p>
            <a:r>
              <a:t>ANIMATION : Morphose : le marqueur glisse de « Présentation » à « Histoire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[S07] HISTOIRE — durée ≈ 75 s</a:t>
            </a:r>
          </a:p>
          <a:p/>
          <a:p>
            <a:r>
              <a:t>CE QUE VOUS DITES / À SAVOIR :</a:t>
            </a:r>
          </a:p>
          <a:p>
            <a:r>
              <a:t>Moment émotion : ralentir, baisser la voix. « En lingala, il n'existe pas de mot pour formation. Ma mère m'a parlé du savoir : Ko yeba. J'ai gardé YEBA. » Silence de 2 secondes avant la slide suivante.</a:t>
            </a:r>
          </a:p>
          <a:p/>
          <a:p>
            <a:r>
              <a:t>VISUEL : Citation plein écran, grands guillemets or en filigrane dans le coin supérieur gauche (hors texte).</a:t>
            </a:r>
          </a:p>
          <a:p/>
          <a:p>
            <a:r>
              <a:t>ANIMATION : Morphose depuis l'agenda. Ligne or en machine à écrire (Reveal.js) / fondu mot à mot (VBA). Suspense : le mot YEBA n'est révélé qu'à la slide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[S08] HISTOIRE — durée ≈ 90 s</a:t>
            </a:r>
          </a:p>
          <a:p/>
          <a:p>
            <a:r>
              <a:t>CE QUE VOUS DITES / À SAVOIR :</a:t>
            </a:r>
          </a:p>
          <a:p>
            <a:r>
              <a:t>Raconter : « Je voulais un nom dans ma langue maternelle, pour marquer ma différence et mon attachement à mes racines africaines. » Source : document de marque YEBA FORMATIONS (pièce jointe).</a:t>
            </a:r>
          </a:p>
          <a:p/>
          <a:p>
            <a:r>
              <a:t>VISUEL : Mot YEBA géant en or, occupant toute la largeur. Traduction dessous, en blanc.</a:t>
            </a:r>
          </a:p>
          <a:p/>
          <a:p>
            <a:r>
              <a:t>ANIMATION : Morphose. Le mot YEBA arrive en zoom depuis le centre ; à la slide suivante, E, B et A s'effacent et le Y reste (Morphose par caractère).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[S09] HISTOIRE — durée ≈ 90 s</a:t>
            </a:r>
          </a:p>
          <a:p/>
          <a:p>
            <a:r>
              <a:t>CE QUE VOUS DITES / À SAVOIR :</a:t>
            </a:r>
          </a:p>
          <a:p>
            <a:r>
              <a:t>« Le Y m'a fait penser à un arbre. Deux histoires me sont revenues : l'arbre de la connaissance (Genèse, ch. 2 et 3) et l'arbre à palabres, où l'on règle les problèmes du village et où les anciens transmettent. » Source : document de marque YEBA FORMATIONS.</a:t>
            </a:r>
          </a:p>
          <a:p/>
          <a:p>
            <a:r>
              <a:t>VISUEL : Un Y géant, dont les deux branches pointent vers deux étiquettes : à gauche l'arbre de la connaissance, à droite l'arbre à palabres.</a:t>
            </a:r>
          </a:p>
          <a:p/>
          <a:p>
            <a:r>
              <a:t>ANIMATION : Morphose depuis le mot YEBA : les lettres E, B, A s'effacent, le Y reste et grandit. Étiquettes en apparition gauche puis droite.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[S10] HISTOIRE — durée ≈ 75 s</a:t>
            </a:r>
          </a:p>
          <a:p/>
          <a:p>
            <a:r>
              <a:t>CE QUE VOUS DITES / À SAVOIR :</a:t>
            </a:r>
          </a:p>
          <a:p>
            <a:r>
              <a:t>« Sous ses branches, les anciens racontaient. Ce n'était ni une salle, ni un bureau : c'était un sanctuaire de transmission. C'est de cette vision qu'est née YEBA FORMATIONS. » Photo alternative recommandée : baobab au coucher du soleil (Unsplash, Leon Pauleikhoff) — voir README.</a:t>
            </a:r>
          </a:p>
          <a:p/>
          <a:p>
            <a:r>
              <a:t>VISUEL : Silhouette de baobab stylisée en or à droite, texte à gauche (grille asymétrique 60/40).</a:t>
            </a:r>
          </a:p>
          <a:p/>
          <a:p>
            <a:r>
              <a:t>ANIMATION : Morphose. Le baobab « pousse » (entrée par le bas, VBA « Balayer vers le haut »).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[S11] HISTOIRE — durée ≈ 75 s</a:t>
            </a:r>
          </a:p>
          <a:p/>
          <a:p>
            <a:r>
              <a:t>CE QUE VOUS DITES / À SAVOIR :</a:t>
            </a:r>
          </a:p>
          <a:p>
            <a:r>
              <a:t>Expliquer le logo : trois pitons (ancrage réunionnais), un réseau de points reliés (la transmission, la mise en relation). « YEBA, c'est la rencontre entre l'héritage et la modernité. »</a:t>
            </a:r>
          </a:p>
          <a:p/>
          <a:p>
            <a:r>
              <a:t>VISUEL : Écran coupé en deux : gauche noir (héritage), droite bleu (modernité). L'emblème du logo (trois pitons en réseau) à cheval sur la jointure.</a:t>
            </a:r>
          </a:p>
          <a:p/>
          <a:p>
            <a:r>
              <a:t>ANIMATION : Morphose : les deux moitiés glissent l'une vers l'autre et l'emblème se pose au centre.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[S12] HISTOIRE — durée ≈ 90 s</a:t>
            </a:r>
          </a:p>
          <a:p/>
          <a:p>
            <a:r>
              <a:t>CE QUE VOUS DITES / À SAVOIR :</a:t>
            </a:r>
          </a:p>
          <a:p>
            <a:r>
              <a:t>Une phrase par valeur, pas plus. Exemple pour « Allégresse &amp; énergie » : « Apprendre doit être une fête de l'esprit. » Source : document de marque YEBA FORMATIONS.</a:t>
            </a:r>
          </a:p>
          <a:p/>
          <a:p>
            <a:r>
              <a:t>VISUEL : Liste verticale de 5 lignes, numéro or géant à gauche (01 → 05), valeur en blanc.</a:t>
            </a:r>
          </a:p>
          <a:p/>
          <a:p>
            <a:r>
              <a:t>ANIMATION : Morphose. Chaque valeur apparaît au clic (VBA : apparition au clic, pas automatique) pour que l'orateur la commente.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[S13] HISTOIRE — durée ≈ 90 s</a:t>
            </a:r>
          </a:p>
          <a:p/>
          <a:p>
            <a:r>
              <a:t>CE QUE VOUS DITES / À SAVOIR :</a:t>
            </a:r>
          </a:p>
          <a:p>
            <a:r>
              <a:t>Point fort à dire : « J'ai formé à la vente et au management dans plusieurs centres de formation. Depuis 2026, je forme à l'IA, à l'implémentation de workflows et je conseille les entreprises en gouvernance RGPD et IA Act. » Dates issues de vos préférences : YEBA dirigée depuis avril 2021.</a:t>
            </a:r>
          </a:p>
          <a:p/>
          <a:p>
            <a:r>
              <a:t>VISUEL : Chronologie horizontale épurée : 4 jalons sur une ligne or, dates en grand au-dessus de la ligne, texte en dessous (la ligne ne touche jamais le texte).</a:t>
            </a:r>
          </a:p>
          <a:p/>
          <a:p>
            <a:r>
              <a:t>ANIMATION : Morphose. La ligne or se trace de gauche à droite (VBA « Balayer »), les jalons s'allument un à 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[S14] L'OFFRE YEBA — durée ≈ 10 s</a:t>
            </a:r>
          </a:p>
          <a:p/>
          <a:p>
            <a:r>
              <a:t>CE QUE VOUS DITES / À SAVOIR :</a:t>
            </a:r>
          </a:p>
          <a:p>
            <a:r>
              <a:t>Transition.</a:t>
            </a:r>
          </a:p>
          <a:p/>
          <a:p>
            <a:r>
              <a:t>VISUEL : Même slide que S03, marqueur or sur « L'offre YEBA ».</a:t>
            </a:r>
          </a:p>
          <a:p/>
          <a:p>
            <a:r>
              <a:t>ANIMATION : Morphose : le marqueur glisse.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[S15] L'OFFRE YEBA — durée ≈ 60 s</a:t>
            </a:r>
          </a:p>
          <a:p/>
          <a:p>
            <a:r>
              <a:t>CE QUE VOUS DITES / À SAVOIR :</a:t>
            </a:r>
          </a:p>
          <a:p>
            <a:r>
              <a:t>Faire lever les mains : « Qui a déjà vu un collaborateur coller un devis, un contrat, un fichier client dans un outil d'IA gratuit ? » ⚖️ RGPD (art. 5, 28, 32 et 44 et suivants : sous-traitance, sécurité, transferts hors UE) + IA Act (art. 4 : maîtrise de l'IA par le personnel, applicable depuis le 2 février 2025). Ne jamais dire « formation obligatoire » (règle interne, CONFIG SYSTÈME Airtable).</a:t>
            </a:r>
          </a:p>
          <a:p/>
          <a:p>
            <a:r>
              <a:t>VISUEL : Fond bleu. Question en or, très grande. Aucun autre élément.</a:t>
            </a:r>
          </a:p>
          <a:p/>
          <a:p>
            <a:r>
              <a:t>ANIMATION : Morphose. Silence de 3 secondes avant la ligne or (apparition au clic).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[S16] L'OFFRE YEBA — durée ≈ 90 s</a:t>
            </a:r>
          </a:p>
          <a:p/>
          <a:p>
            <a:r>
              <a:t>CE QUE VOUS DITES / À SAVOIR :</a:t>
            </a:r>
          </a:p>
          <a:p>
            <a:r>
              <a:t>Le cœur du positionnement : « Vous n'avez pas à coordonner un formateur, un développeur et un juriste. Nous formons vos équipes, nous installons les outils, et nous sécurisons le tout. »</a:t>
            </a:r>
          </a:p>
          <a:p/>
          <a:p>
            <a:r>
              <a:t>VISUEL : Trois colonnes, verbe géant en blanc, sous-ligne en or ; numéro 01/02/03 en filigrane.</a:t>
            </a:r>
          </a:p>
          <a:p/>
          <a:p>
            <a:r>
              <a:t>ANIMATION : Morphose. Colonnes en entrée échelonnée par le bas (VBA).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[S17] L'OFFRE YEBA — durée ≈ 45 s</a:t>
            </a:r>
          </a:p>
          <a:p/>
          <a:p>
            <a:r>
              <a:t>CE QUE VOUS DITES / À SAVOIR :</a:t>
            </a:r>
          </a:p>
          <a:p>
            <a:r>
              <a:t>Source : CONFIG SYSTÈME Airtable, horaires validés le 22/09/2026 (8h–12h / 13h–17h, 2 pauses de 15 min incluses). « À prix égal, une heure de plus de formation par jour. » ⚠️ La comparaison de prix avec les concurrents n'est pas documentée : ne pas affirmer « au même prix » sans relevé.</a:t>
            </a:r>
          </a:p>
          <a:p/>
          <a:p>
            <a:r>
              <a:t>VISUEL : Chiffre géant « 8 h » en or à gauche (2/3 de l'écran), texte à droite.</a:t>
            </a:r>
          </a:p>
          <a:p/>
          <a:p>
            <a:r>
              <a:t>ANIMATION : Morphose. Le chiffre compte de 7 à 8 (compteur Reveal.js / vidéo Remotion) ; en PowerPoint, zoom d'entrée.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[S18] L'OFFRE YEBA — durée ≈ 60 s</a:t>
            </a:r>
          </a:p>
          <a:p/>
          <a:p>
            <a:r>
              <a:t>CE QUE VOUS DITES / À SAVOIR :</a:t>
            </a:r>
          </a:p>
          <a:p>
            <a:r>
              <a:t>Séminaire TABLEAU DE BORD : 6 à 8 dirigeants à huis clos, jamais deux concurrents directs sur la même session (catalogue Airtable, FOR-0014). C'est un argument fort pour ce public : le dire.</a:t>
            </a:r>
          </a:p>
          <a:p/>
          <a:p>
            <a:r>
              <a:t>VISUEL : Quatre tuiles en grille 2 × 2 asymétrique (la tuile « Séminaire » plus large, fond or, texte noir).</a:t>
            </a:r>
          </a:p>
          <a:p/>
          <a:p>
            <a:r>
              <a:t>ANIMATION : Morphose. Tuiles en « rebond » léger (VBA).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[S19] L'OFFRE YEBA — durée ≈ 60 s</a:t>
            </a:r>
          </a:p>
          <a:p/>
          <a:p>
            <a:r>
              <a:t>CE QUE VOUS DITES / À SAVOIR :</a:t>
            </a:r>
          </a:p>
          <a:p>
            <a:r>
              <a:t>⚠️ À n'affirmer que si c'est vrai pour vos propres outils : la table CONFIG SYSTÈME indique une migration en cours (Gmail → Brevo, Airtable → Baserow / OVHcloud). Formulation choisie : un engagement de méthode, pas une garantie. ⚖️ RGPD, chapitre V (transferts hors UE).</a:t>
            </a:r>
          </a:p>
          <a:p/>
          <a:p>
            <a:r>
              <a:t>VISUEL : Fond noir, phrase centrée ; petit drapeau européen stylisé (12 points or en cercle) en haut à droite.</a:t>
            </a:r>
          </a:p>
          <a:p/>
          <a:p>
            <a:r>
              <a:t>ANIMATION : Morphose. Les 12 points or se placent en cercle (VBA : apparition « Roue »).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[S20] L'OFFRE YEBA — durée ≈ 60 s</a:t>
            </a:r>
          </a:p>
          <a:p/>
          <a:p>
            <a:r>
              <a:t>CE QUE VOUS DITES / À SAVOIR :</a:t>
            </a:r>
          </a:p>
          <a:p>
            <a:r>
              <a:t>Règle commerciale interne (CONFIG SYSTÈME Airtable, 23/09/2026) : ne jamais promettre une « mise en conformité » automatique ni une « formation obligatoire ». Argument : « nous vous aidons à prouver les mesures prises ». ⚖️ IA Act art. 4 + RGPD art. 5.2 (principe de responsabilité, accountability).</a:t>
            </a:r>
          </a:p>
          <a:p/>
          <a:p>
            <a:r>
              <a:t>VISUEL : Deux lignes, la seconde en or, tout le reste vide. Effet « manifeste ».</a:t>
            </a:r>
          </a:p>
          <a:p/>
          <a:p>
            <a:r>
              <a:t>ANIMATION : Morphose. Ligne 1 en fondu ; ligne 2 en fondu lent (1,2 s) au clic suivant.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[S21] NOS FORMATIONS — durée ≈ 10 s</a:t>
            </a:r>
          </a:p>
          <a:p/>
          <a:p>
            <a:r>
              <a:t>CE QUE VOUS DITES / À SAVOIR :</a:t>
            </a:r>
          </a:p>
          <a:p>
            <a:r>
              <a:t>Transition.</a:t>
            </a:r>
          </a:p>
          <a:p/>
          <a:p>
            <a:r>
              <a:t>VISUEL : Même slide que S03, marqueur or sur « Nos formations ».</a:t>
            </a:r>
          </a:p>
          <a:p/>
          <a:p>
            <a:r>
              <a:t>ANIMATION : Morphose : le marqueur glisse. Option : insérer ici la vidéo Remotion « yeba-transition-formations.mp4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[S22] NOS FORMATIONS — durée ≈ 45 s</a:t>
            </a:r>
          </a:p>
          <a:p/>
          <a:p>
            <a:r>
              <a:t>CE QUE VOUS DITES / À SAVOIR :</a:t>
            </a:r>
          </a:p>
          <a:p>
            <a:r>
              <a:t>Toutes les formations du catalogue portent un nom de pièce automobile : c'est mémorisable, dites-le. « Vous allez voir : on ne vend pas des modules, on règle votre moteur. »</a:t>
            </a:r>
          </a:p>
          <a:p/>
          <a:p>
            <a:r>
              <a:t>VISUEL : Fond bleu nuit. Jauge de compte-tours stylisée en or en arrière-plan à droite.</a:t>
            </a:r>
          </a:p>
          <a:p/>
          <a:p>
            <a:r>
              <a:t>ANIMATION : Morphose. L'aiguille de la jauge monte (VBA : rotation 120°).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[S23] NOS FORMATIONS — durée ≈ 90 s</a:t>
            </a:r>
          </a:p>
          <a:p/>
          <a:p>
            <a:r>
              <a:t>CE QUE VOUS DITES / À SAVOIR :</a:t>
            </a:r>
          </a:p>
          <a:p>
            <a:r>
              <a:t>Source : table CATALOGUE FORMATIONS, base Airtable « YEBA FORMATIONS - Centre de formation (Adaptable) », consultée le 28/09/2026. Exclues volontairement : FOR-0005 et FOR-0007 (sous-traitance en marque blanche : YEBA ne doit pas apparaître) et FOR-0001 (archivée). ⚠️ EMBRAYAGE (FOR-0008) : fiche en cours de rédaction, objectifs non formalisés (RNQ indicateur 1) — la citer comme « bientôt », ne pas en diffuser le programme ni la deviser. ⚠️ CPF : aucune formation n'est éligible (pas de code RNCP/RS) — ne JAMAIS dire « finançable CPF ».</a:t>
            </a:r>
          </a:p>
          <a:p/>
          <a:p>
            <a:r>
              <a:t>VISUEL : Grille 4 × 3 de tuiles ; chaque tuile porte un nom de code en capitales, bordure colorée selon la famille (légende en bas).</a:t>
            </a:r>
          </a:p>
          <a:p/>
          <a:p>
            <a:r>
              <a:t>ANIMATION : Morphose. Chaque tuile porte un nom !!tuile-XXX : sur les 4 slides suivantes, la tuile concernée s'agrandit jusqu'à devenir la slide (zoom Morphose).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[S24] NOS FORMATIONS — durée ≈ 120 s</a:t>
            </a:r>
          </a:p>
          <a:p/>
          <a:p>
            <a:r>
              <a:t>CE QUE VOUS DITES / À SAVOIR :</a:t>
            </a:r>
          </a:p>
          <a:p>
            <a:r>
              <a:t>FOR-0011. Public : tout salarié, manager, dirigeant qui utilise ou va utiliser l'IA générative. Atelier phare : « Le Tri de la Réserve » (je saisis / j'anonymise / je ne saisis jamais). Livrable : dossier de preuve des mesures IA + plan d'action à 30 jours. ⚖️ IA Act art. 4 (maîtrise de l'IA) et art. 50 (transparence) + RGPD. Rappel catalogue : ni diplôme, ni certification RNCP/RS. Prix : à trancher (incohérence notée dans CONFIG SYSTÈME, 23/09/2026) — ne pas l'afficher ce soir.</a:t>
            </a:r>
          </a:p>
          <a:p/>
          <a:p>
            <a:r>
              <a:t>VISUEL : La tuile ALLUMAGE-TURBO du garage devient la slide : bandeau or à gauche avec le nom de code vertical, contenu à droite.</a:t>
            </a:r>
          </a:p>
          <a:p/>
          <a:p>
            <a:r>
              <a:t>ANIMATION : Morphose (zoom depuis la tuile). Les 3 jours apparaissent comme les rapports d'une boîte de vitesses (VBA échelonné).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[S25] NOS FORMATIONS — durée ≈ 90 s</a:t>
            </a:r>
          </a:p>
          <a:p/>
          <a:p>
            <a:r>
              <a:t>CE QUE VOUS DITES / À SAVOIR :</a:t>
            </a:r>
          </a:p>
          <a:p>
            <a:r>
              <a:t>FOR-0013. Pour dirigeants, référents IA, profils techniques. Point clé : un point d'arrêt humain obligatoire et une procédure d'arrêt d'urgence testée. ⚖️ IA Act : qualification des systèmes (interdit, haut risque, transparence, hors champ) + art. 14 (contrôle humain pour les systèmes à haut risque).</a:t>
            </a:r>
          </a:p>
          <a:p/>
          <a:p>
            <a:r>
              <a:t>VISUEL : Même gabarit que S24. Pictogramme volant/tableau de bord en filigrane.</a:t>
            </a:r>
          </a:p>
          <a:p/>
          <a:p>
            <a:r>
              <a:t>ANIMATION : Morphose (zoom depuis la tuile).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[S26] NOS FORMATIONS — durée ≈ 90 s</a:t>
            </a:r>
          </a:p>
          <a:p/>
          <a:p>
            <a:r>
              <a:t>CE QUE VOUS DITES / À SAVOIR :</a:t>
            </a:r>
          </a:p>
          <a:p>
            <a:r>
              <a:t>FOR-0009. Public : dirigeants de TPE, artisans, commerçants sans site ou dépendants de leur prestataire. Objectif 5 : maintenir le site seul. ⚖️ Mentions légales (LCEN art. 6), politique de confidentialité et traceurs (RGPD + art. 82 loi Informatique et Libertés, lignes directrices CNIL cookies), accessibilité. Si l'outil de génération est piloté par une IA : IA Act art. 50 (transparence sur les contenus générés, selon le cas).</a:t>
            </a:r>
          </a:p>
          <a:p/>
          <a:p>
            <a:r>
              <a:t>VISUEL : Même gabarit. Onde sonore stylisée en or qui se transforme en maquette de page web.</a:t>
            </a:r>
          </a:p>
          <a:p/>
          <a:p>
            <a:r>
              <a:t>ANIMATION : Morphose (zoom depuis la tuile). Onde sonore animée (Reveal.js / Remotion).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[S27] NOS FORMATIONS — durée ≈ 90 s</a:t>
            </a:r>
          </a:p>
          <a:p/>
          <a:p>
            <a:r>
              <a:t>CE QUE VOUS DITES / À SAVOIR :</a:t>
            </a:r>
          </a:p>
          <a:p>
            <a:r>
              <a:t>FOR-0010. Public : dirigeants, commerciaux, administratifs, communication. ⚖️ RGPD + prospection électronique : consentement préalable en B2C (CPCE art. L.34-5), information et droit d'opposition en B2B pour une offre en rapport avec la fonction ; lien de désinscription, identification de l'expéditeur. Outil d'envoi recommandé souverain : Brevo (France) — cohérent avec votre propre migration.</a:t>
            </a:r>
          </a:p>
          <a:p/>
          <a:p>
            <a:r>
              <a:t>VISUEL : Même gabarit. Enveloppe stylisée qui devient une flèche de réponse.</a:t>
            </a:r>
          </a:p>
          <a:p/>
          <a:p>
            <a:r>
              <a:t>ANIMATION : Morphose (zoom depuis la tuile).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[S28] NOS FORMATIONS — durée ≈ 240 s</a:t>
            </a:r>
          </a:p>
          <a:p/>
          <a:p>
            <a:r>
              <a:t>CE QUE VOUS DITES / À SAVOIR :</a:t>
            </a:r>
          </a:p>
          <a:p>
            <a:r>
              <a:t>Moment « waouh » pour dirigeants : faire dicter par un invité volontaire le métier de son entreprise, générer la page en direct. Préparer un plan B (vidéo enregistrée) si le réseau du lieu est faible. ⚖️ RGPD : ne saisir aucune donnée réelle de l'invité sans son accord ; utiliser un outil hébergé dans l'UE ou une entreprise fictive. IA Act art. 50 : indiquer que le contenu est généré par IA.</a:t>
            </a:r>
          </a:p>
          <a:p/>
          <a:p>
            <a:r>
              <a:t>VISUEL : Fond noir, pastille rouge « LIVE » clignotante (seule couleur hors charte, volontaire), chronomètre stylisé.</a:t>
            </a:r>
          </a:p>
          <a:p/>
          <a:p>
            <a:r>
              <a:t>ANIMATION : Morphose. Puis bascule vers l'écran de démonstration.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[S29] NOS FORMATIONS — durée ≈ 30 s</a:t>
            </a:r>
          </a:p>
          <a:p/>
          <a:p>
            <a:r>
              <a:t>CE QUE VOUS DITES / À SAVOIR :</a:t>
            </a:r>
          </a:p>
          <a:p>
            <a:r>
              <a:t>Passage de relais vers la partie suivante (à construire).</a:t>
            </a:r>
          </a:p>
          <a:p/>
          <a:p>
            <a:r>
              <a:t>VISUEL : Phrase pivot, fond bleu. Prépare la partie « Applications &amp; sites web ».</a:t>
            </a:r>
          </a:p>
          <a:p/>
          <a:p>
            <a:r>
              <a:t>ANIMATION : Morphose vers l'agenda (marqueur sur « Applications &amp; sites web »).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[S30] APPLICATIONS &amp; SITES WEB — durée ≈ 10 s</a:t>
            </a:r>
          </a:p>
          <a:p/>
          <a:p>
            <a:r>
              <a:t>CE QUE VOUS DITES / À SAVOIR :</a:t>
            </a:r>
          </a:p>
          <a:p>
            <a:r>
              <a:t>À CONSTRUIRE : Applications / Sites web.</a:t>
            </a:r>
          </a:p>
          <a:p/>
          <a:p>
            <a:r>
              <a:t>VISUEL : Slide masquée — partie à construire.</a:t>
            </a:r>
          </a:p>
          <a:p/>
          <a:p>
            <a:r>
              <a:t>ANIMATION : Morphose.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[S31] AUDIT &amp; DEVIS — durée ≈ 10 s</a:t>
            </a:r>
          </a:p>
          <a:p/>
          <a:p>
            <a:r>
              <a:t>CE QUE VOUS DITES / À SAVOIR :</a:t>
            </a:r>
          </a:p>
          <a:p>
            <a:r>
              <a:t>À CONSTRUIRE : Audit / Devis.</a:t>
            </a:r>
          </a:p>
          <a:p/>
          <a:p>
            <a:r>
              <a:t>VISUEL : Slide masquée — partie à construire.</a:t>
            </a:r>
          </a:p>
          <a:p/>
          <a:p>
            <a:r>
              <a:t>ANIMATION : Morphose.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[S32] MOT DE FIN — OFFRE SOIRÉE — durée ≈ 10 s</a:t>
            </a:r>
          </a:p>
          <a:p/>
          <a:p>
            <a:r>
              <a:t>CE QUE VOUS DITES / À SAVOIR :</a:t>
            </a:r>
          </a:p>
          <a:p>
            <a:r>
              <a:t>À CONSTRUIRE : Mot de fin avec offre spéciale soirée.</a:t>
            </a:r>
          </a:p>
          <a:p/>
          <a:p>
            <a:r>
              <a:t>VISUEL : Slide masquée — partie à construire.</a:t>
            </a:r>
          </a:p>
          <a:p/>
          <a:p>
            <a:r>
              <a:t>ANIMATION : Morphose.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743200" y="-2743200"/>
            <a:ext cx="914400" cy="914400"/>
          </a:xfrm>
        </p:spPr>
        <p:txBody>
          <a:bodyPr/>
          <a:lstStyle/>
          <a:p>
            <a:r>
              <a:t>YEBA FORMATIONS — introduction vidéo</a:t>
            </a:r>
          </a:p>
        </p:txBody>
      </p:sp>
      <p:pic>
        <p:nvPicPr>
          <p:cNvPr id="3" name="!!video-intr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titre"/>
          <p:cNvSpPr>
            <a:spLocks noGrp="1"/>
          </p:cNvSpPr>
          <p:nvPr>
            <p:ph type="title"/>
          </p:nvPr>
        </p:nvSpPr>
        <p:spPr>
          <a:xfrm>
            <a:off x="731520" y="3931920"/>
            <a:ext cx="10728655" cy="1600200"/>
          </a:xfrm>
        </p:spPr>
        <p:txBody>
          <a:bodyPr wrap="square" anchor="ctr" lIns="45720" rIns="45720">
            <a:noAutofit/>
          </a:bodyPr>
          <a:lstStyle/>
          <a:p>
            <a:pPr algn="ctr">
              <a:lnSpc>
                <a:spcPct val="100000"/>
              </a:lnSpc>
            </a:pPr>
            <a:r>
              <a:rPr sz="4000" lang="fr-FR">
                <a:solidFill>
                  <a:srgbClr val="FFFFFF"/>
                </a:solidFill>
                <a:latin typeface="Montserrat ExtraBold"/>
              </a:rPr>
              <a:t>Sous le baobab de la connaissance,</a:t>
            </a:r>
          </a:p>
          <a:p>
            <a:pPr algn="ctr">
              <a:lnSpc>
                <a:spcPct val="100000"/>
              </a:lnSpc>
            </a:pPr>
            <a:r>
              <a:rPr sz="4000" lang="fr-FR">
                <a:solidFill>
                  <a:srgbClr val="C9A84C"/>
                </a:solidFill>
                <a:latin typeface="Montserrat ExtraBold"/>
              </a:rPr>
              <a:t>les graines du savoir.</a:t>
            </a:r>
          </a:p>
        </p:txBody>
      </p:sp>
      <p:pic>
        <p:nvPicPr>
          <p:cNvPr id="3" name="!!logo" descr="Logo YEBA FORMATIONS : trois pitons reliés en réseau, au-dessus du nom YEBA FORMATIO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927" y="320040"/>
            <a:ext cx="3291840" cy="2848359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0" y="3429000"/>
            <a:ext cx="12191695" cy="5029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lang="fr-FR" spc="600">
                <a:solidFill>
                  <a:srgbClr val="C9A84C"/>
                </a:solidFill>
                <a:latin typeface="Montserrat ExtraBold"/>
              </a:rPr>
              <a:t>SOIRÉE DE LANCEMENT</a:t>
            </a:r>
          </a:p>
        </p:txBody>
      </p:sp>
      <p:sp>
        <p:nvSpPr>
          <p:cNvPr id="5" name="meta"/>
          <p:cNvSpPr txBox="1"/>
          <p:nvPr/>
        </p:nvSpPr>
        <p:spPr>
          <a:xfrm>
            <a:off x="0" y="5806440"/>
            <a:ext cx="12191695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lang="fr-FR">
                <a:solidFill>
                  <a:srgbClr val="B8BCC6"/>
                </a:solidFill>
                <a:latin typeface="Montserrat"/>
              </a:rPr>
              <a:t>[DATE À PRÉCISER] · [LIEU À PRÉCISER] · La Réunion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titre"/>
          <p:cNvSpPr>
            <a:spLocks noGrp="1"/>
          </p:cNvSpPr>
          <p:nvPr>
            <p:ph type="title"/>
          </p:nvPr>
        </p:nvSpPr>
        <p:spPr>
          <a:xfrm>
            <a:off x="868680" y="1691640"/>
            <a:ext cx="9875520" cy="4023360"/>
          </a:xfrm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5000"/>
              </a:lnSpc>
            </a:pPr>
            <a:r>
              <a:rPr sz="6400" lang="fr-FR">
                <a:solidFill>
                  <a:srgbClr val="FFFFFF"/>
                </a:solidFill>
                <a:latin typeface="Montserrat ExtraBold"/>
              </a:rPr>
              <a:t>Moins de bruit sur l'IA.</a:t>
            </a:r>
          </a:p>
          <a:p>
            <a:pPr algn="l">
              <a:lnSpc>
                <a:spcPct val="105000"/>
              </a:lnSpc>
            </a:pPr>
            <a:r>
              <a:rPr sz="6400" lang="fr-FR">
                <a:solidFill>
                  <a:srgbClr val="C9A84C"/>
                </a:solidFill>
                <a:latin typeface="Montserrat ExtraBold"/>
              </a:rPr>
              <a:t>Plus de décisions.</a:t>
            </a:r>
          </a:p>
        </p:txBody>
      </p:sp>
      <p:sp>
        <p:nvSpPr>
          <p:cNvPr id="3" name="!!barre"/>
          <p:cNvSpPr/>
          <p:nvPr/>
        </p:nvSpPr>
        <p:spPr>
          <a:xfrm>
            <a:off x="411480" y="1600200"/>
            <a:ext cx="128016" cy="39319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868680" y="1097280"/>
            <a:ext cx="7315200" cy="5029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lang="fr-FR" spc="600">
                <a:solidFill>
                  <a:srgbClr val="C9A84C"/>
                </a:solidFill>
                <a:latin typeface="Montserrat ExtraBold"/>
              </a:rPr>
              <a:t>CE SOIR</a:t>
            </a:r>
          </a:p>
        </p:txBody>
      </p:sp>
      <p:pic>
        <p:nvPicPr>
          <p:cNvPr id="5" name="!!logo" descr="Emblème YEBA FORMATIONS : trois pitons reliés en résea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6236208"/>
            <a:ext cx="868680" cy="406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titre"/>
          <p:cNvSpPr>
            <a:spLocks noGrp="1"/>
          </p:cNvSpPr>
          <p:nvPr>
            <p:ph type="title"/>
          </p:nvPr>
        </p:nvSpPr>
        <p:spPr>
          <a:xfrm>
            <a:off x="731520" y="411480"/>
            <a:ext cx="7315200" cy="731520"/>
          </a:xfrm>
        </p:spPr>
        <p:txBody>
          <a:bodyPr wrap="square" anchor="t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lang="fr-FR">
                <a:solidFill>
                  <a:srgbClr val="FFFFFF"/>
                </a:solidFill>
                <a:latin typeface="Montserrat ExtraBold"/>
              </a:rPr>
              <a:t>Le fil de la soirée</a:t>
            </a:r>
          </a:p>
        </p:txBody>
      </p:sp>
      <p:sp>
        <p:nvSpPr>
          <p:cNvPr id="3" name="!!agn0"/>
          <p:cNvSpPr txBox="1"/>
          <p:nvPr/>
        </p:nvSpPr>
        <p:spPr>
          <a:xfrm>
            <a:off x="1051560" y="1325880"/>
            <a:ext cx="82296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C9A84C"/>
                </a:solidFill>
                <a:latin typeface="Montserrat ExtraBold"/>
              </a:rPr>
              <a:t>01</a:t>
            </a:r>
          </a:p>
        </p:txBody>
      </p:sp>
      <p:sp>
        <p:nvSpPr>
          <p:cNvPr id="4" name="!!ag0"/>
          <p:cNvSpPr txBox="1"/>
          <p:nvPr/>
        </p:nvSpPr>
        <p:spPr>
          <a:xfrm>
            <a:off x="1920240" y="1325880"/>
            <a:ext cx="576072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lang="fr-FR">
                <a:solidFill>
                  <a:srgbClr val="FFFFFF"/>
                </a:solidFill>
                <a:latin typeface="Montserrat ExtraBold"/>
              </a:rPr>
              <a:t>Présentation</a:t>
            </a:r>
          </a:p>
        </p:txBody>
      </p:sp>
      <p:sp>
        <p:nvSpPr>
          <p:cNvPr id="5" name="!!agn1"/>
          <p:cNvSpPr txBox="1"/>
          <p:nvPr/>
        </p:nvSpPr>
        <p:spPr>
          <a:xfrm>
            <a:off x="1051560" y="2057400"/>
            <a:ext cx="82296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 ExtraBold"/>
              </a:rPr>
              <a:t>02</a:t>
            </a:r>
          </a:p>
        </p:txBody>
      </p:sp>
      <p:sp>
        <p:nvSpPr>
          <p:cNvPr id="6" name="!!ag1"/>
          <p:cNvSpPr txBox="1"/>
          <p:nvPr/>
        </p:nvSpPr>
        <p:spPr>
          <a:xfrm>
            <a:off x="1920240" y="2057400"/>
            <a:ext cx="576072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"/>
              </a:rPr>
              <a:t>Histoire</a:t>
            </a:r>
          </a:p>
        </p:txBody>
      </p:sp>
      <p:sp>
        <p:nvSpPr>
          <p:cNvPr id="7" name="!!agn2"/>
          <p:cNvSpPr txBox="1"/>
          <p:nvPr/>
        </p:nvSpPr>
        <p:spPr>
          <a:xfrm>
            <a:off x="1051560" y="2788920"/>
            <a:ext cx="82296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 ExtraBold"/>
              </a:rPr>
              <a:t>03</a:t>
            </a:r>
          </a:p>
        </p:txBody>
      </p:sp>
      <p:sp>
        <p:nvSpPr>
          <p:cNvPr id="8" name="!!ag2"/>
          <p:cNvSpPr txBox="1"/>
          <p:nvPr/>
        </p:nvSpPr>
        <p:spPr>
          <a:xfrm>
            <a:off x="1920240" y="2788920"/>
            <a:ext cx="576072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"/>
              </a:rPr>
              <a:t>L'offre YEBA</a:t>
            </a:r>
          </a:p>
        </p:txBody>
      </p:sp>
      <p:sp>
        <p:nvSpPr>
          <p:cNvPr id="9" name="!!agn3"/>
          <p:cNvSpPr txBox="1"/>
          <p:nvPr/>
        </p:nvSpPr>
        <p:spPr>
          <a:xfrm>
            <a:off x="1051560" y="3520440"/>
            <a:ext cx="82296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 ExtraBold"/>
              </a:rPr>
              <a:t>04</a:t>
            </a:r>
          </a:p>
        </p:txBody>
      </p:sp>
      <p:sp>
        <p:nvSpPr>
          <p:cNvPr id="10" name="!!ag3"/>
          <p:cNvSpPr txBox="1"/>
          <p:nvPr/>
        </p:nvSpPr>
        <p:spPr>
          <a:xfrm>
            <a:off x="1920240" y="3520440"/>
            <a:ext cx="576072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"/>
              </a:rPr>
              <a:t>Nos formations</a:t>
            </a:r>
          </a:p>
        </p:txBody>
      </p:sp>
      <p:sp>
        <p:nvSpPr>
          <p:cNvPr id="11" name="!!agn4"/>
          <p:cNvSpPr txBox="1"/>
          <p:nvPr/>
        </p:nvSpPr>
        <p:spPr>
          <a:xfrm>
            <a:off x="1051560" y="4251960"/>
            <a:ext cx="82296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 ExtraBold"/>
              </a:rPr>
              <a:t>05</a:t>
            </a:r>
          </a:p>
        </p:txBody>
      </p:sp>
      <p:sp>
        <p:nvSpPr>
          <p:cNvPr id="12" name="!!ag4"/>
          <p:cNvSpPr txBox="1"/>
          <p:nvPr/>
        </p:nvSpPr>
        <p:spPr>
          <a:xfrm>
            <a:off x="1920240" y="4251960"/>
            <a:ext cx="576072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"/>
              </a:rPr>
              <a:t>Applications &amp; sites web</a:t>
            </a:r>
          </a:p>
        </p:txBody>
      </p:sp>
      <p:sp>
        <p:nvSpPr>
          <p:cNvPr id="13" name="!!agn5"/>
          <p:cNvSpPr txBox="1"/>
          <p:nvPr/>
        </p:nvSpPr>
        <p:spPr>
          <a:xfrm>
            <a:off x="1051560" y="4983480"/>
            <a:ext cx="82296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 ExtraBold"/>
              </a:rPr>
              <a:t>06</a:t>
            </a:r>
          </a:p>
        </p:txBody>
      </p:sp>
      <p:sp>
        <p:nvSpPr>
          <p:cNvPr id="14" name="!!ag5"/>
          <p:cNvSpPr txBox="1"/>
          <p:nvPr/>
        </p:nvSpPr>
        <p:spPr>
          <a:xfrm>
            <a:off x="1920240" y="4983480"/>
            <a:ext cx="576072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"/>
              </a:rPr>
              <a:t>Audit &amp; devis</a:t>
            </a:r>
          </a:p>
        </p:txBody>
      </p:sp>
      <p:sp>
        <p:nvSpPr>
          <p:cNvPr id="15" name="!!agn6"/>
          <p:cNvSpPr txBox="1"/>
          <p:nvPr/>
        </p:nvSpPr>
        <p:spPr>
          <a:xfrm>
            <a:off x="1051560" y="5715000"/>
            <a:ext cx="82296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 ExtraBold"/>
              </a:rPr>
              <a:t>07</a:t>
            </a:r>
          </a:p>
        </p:txBody>
      </p:sp>
      <p:sp>
        <p:nvSpPr>
          <p:cNvPr id="16" name="!!ag6"/>
          <p:cNvSpPr txBox="1"/>
          <p:nvPr/>
        </p:nvSpPr>
        <p:spPr>
          <a:xfrm>
            <a:off x="1920240" y="5715000"/>
            <a:ext cx="576072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"/>
              </a:rPr>
              <a:t>Mot de fin — offre soirée</a:t>
            </a:r>
          </a:p>
        </p:txBody>
      </p:sp>
      <p:sp>
        <p:nvSpPr>
          <p:cNvPr id="17" name="!!marqueur"/>
          <p:cNvSpPr/>
          <p:nvPr/>
        </p:nvSpPr>
        <p:spPr>
          <a:xfrm>
            <a:off x="731520" y="1399032"/>
            <a:ext cx="128016" cy="4937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agbig"/>
          <p:cNvSpPr txBox="1"/>
          <p:nvPr/>
        </p:nvSpPr>
        <p:spPr>
          <a:xfrm>
            <a:off x="7223760" y="1280160"/>
            <a:ext cx="4663440" cy="38404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lnSpc>
                <a:spcPct val="100000"/>
              </a:lnSpc>
            </a:pPr>
            <a:r>
              <a:rPr sz="21000" lang="fr-FR">
                <a:solidFill>
                  <a:srgbClr val="C9A84C"/>
                </a:solidFill>
                <a:latin typeface="Montserrat Black"/>
              </a:rPr>
              <a:t>01</a:t>
            </a:r>
          </a:p>
        </p:txBody>
      </p:sp>
      <p:pic>
        <p:nvPicPr>
          <p:cNvPr id="19" name="!!logo" descr="Emblème YEBA FORMATIONS : trois pitons reliés en résea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6236208"/>
            <a:ext cx="868680" cy="406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titre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728655" cy="914400"/>
          </a:xfrm>
        </p:spPr>
        <p:txBody>
          <a:bodyPr wrap="square" anchor="t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5400" lang="fr-FR">
                <a:solidFill>
                  <a:srgbClr val="FFFFFF"/>
                </a:solidFill>
                <a:latin typeface="Montserrat ExtraBold"/>
              </a:rPr>
              <a:t>3 visages. </a:t>
            </a:r>
            <a:r>
              <a:rPr sz="5400" lang="fr-FR">
                <a:solidFill>
                  <a:srgbClr val="C9A84C"/>
                </a:solidFill>
                <a:latin typeface="Montserrat ExtraBold"/>
              </a:rPr>
              <a:t>1 mission.</a:t>
            </a:r>
          </a:p>
        </p:txBody>
      </p:sp>
      <p:sp>
        <p:nvSpPr>
          <p:cNvPr id="3" name="!!carte0"/>
          <p:cNvSpPr/>
          <p:nvPr/>
        </p:nvSpPr>
        <p:spPr>
          <a:xfrm>
            <a:off x="746607" y="1691640"/>
            <a:ext cx="3291840" cy="4206240"/>
          </a:xfrm>
          <a:prstGeom prst="roundRect">
            <a:avLst>
              <a:gd name="adj" fmla="val 6000"/>
            </a:avLst>
          </a:prstGeom>
          <a:solidFill>
            <a:srgbClr val="1C1C1C"/>
          </a:solidFill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photo0"/>
          <p:cNvSpPr/>
          <p:nvPr/>
        </p:nvSpPr>
        <p:spPr>
          <a:xfrm>
            <a:off x="1523847" y="2011680"/>
            <a:ext cx="1737360" cy="1737360"/>
          </a:xfrm>
          <a:prstGeom prst="ellipse">
            <a:avLst/>
          </a:prstGeom>
          <a:solidFill>
            <a:srgbClr val="1B3A6B"/>
          </a:solidFill>
          <a:ln w="381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/>
            <a:r>
              <a:rPr sz="4400" lang="fr-FR">
                <a:solidFill>
                  <a:srgbClr val="FFFFFF"/>
                </a:solidFill>
                <a:latin typeface="Montserrat ExtraBold"/>
              </a:rPr>
              <a:t>AL</a:t>
            </a:r>
          </a:p>
        </p:txBody>
      </p:sp>
      <p:sp>
        <p:nvSpPr>
          <p:cNvPr id="5" name="nom0"/>
          <p:cNvSpPr txBox="1"/>
          <p:nvPr/>
        </p:nvSpPr>
        <p:spPr>
          <a:xfrm>
            <a:off x="883767" y="3886200"/>
            <a:ext cx="3017520" cy="7315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lang="fr-FR">
                <a:solidFill>
                  <a:srgbClr val="FFFFFF"/>
                </a:solidFill>
                <a:latin typeface="Montserrat ExtraBold"/>
              </a:rPr>
              <a:t>Aurélien LUMEKA</a:t>
            </a:r>
          </a:p>
        </p:txBody>
      </p:sp>
      <p:sp>
        <p:nvSpPr>
          <p:cNvPr id="6" name="role0"/>
          <p:cNvSpPr txBox="1"/>
          <p:nvPr/>
        </p:nvSpPr>
        <p:spPr>
          <a:xfrm>
            <a:off x="883767" y="4709160"/>
            <a:ext cx="3017520" cy="10972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lang="fr-FR">
                <a:solidFill>
                  <a:srgbClr val="B8BCC6"/>
                </a:solidFill>
                <a:latin typeface="Montserrat"/>
              </a:rPr>
              <a:t>Directeur · IA &amp; gouvernance</a:t>
            </a:r>
          </a:p>
        </p:txBody>
      </p:sp>
      <p:sp>
        <p:nvSpPr>
          <p:cNvPr id="7" name="!!carte1"/>
          <p:cNvSpPr/>
          <p:nvPr/>
        </p:nvSpPr>
        <p:spPr>
          <a:xfrm>
            <a:off x="4449927" y="1691640"/>
            <a:ext cx="3291840" cy="4206240"/>
          </a:xfrm>
          <a:prstGeom prst="roundRect">
            <a:avLst>
              <a:gd name="adj" fmla="val 6000"/>
            </a:avLst>
          </a:prstGeom>
          <a:solidFill>
            <a:srgbClr val="1C1C1C"/>
          </a:solidFill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photo1"/>
          <p:cNvSpPr/>
          <p:nvPr/>
        </p:nvSpPr>
        <p:spPr>
          <a:xfrm>
            <a:off x="5227167" y="2011680"/>
            <a:ext cx="1737360" cy="1737360"/>
          </a:xfrm>
          <a:prstGeom prst="ellipse">
            <a:avLst/>
          </a:prstGeom>
          <a:solidFill>
            <a:srgbClr val="1B3A6B"/>
          </a:solidFill>
          <a:ln w="381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/>
            <a:r>
              <a:rPr sz="4400" lang="fr-FR">
                <a:solidFill>
                  <a:srgbClr val="FFFFFF"/>
                </a:solidFill>
                <a:latin typeface="Montserrat ExtraBold"/>
              </a:rPr>
              <a:t>S</a:t>
            </a:r>
          </a:p>
        </p:txBody>
      </p:sp>
      <p:sp>
        <p:nvSpPr>
          <p:cNvPr id="9" name="nom1"/>
          <p:cNvSpPr txBox="1"/>
          <p:nvPr/>
        </p:nvSpPr>
        <p:spPr>
          <a:xfrm>
            <a:off x="4587087" y="3886200"/>
            <a:ext cx="3017520" cy="7315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lang="fr-FR">
                <a:solidFill>
                  <a:srgbClr val="FFFFFF"/>
                </a:solidFill>
                <a:latin typeface="Montserrat ExtraBold"/>
              </a:rPr>
              <a:t>Stan</a:t>
            </a:r>
          </a:p>
        </p:txBody>
      </p:sp>
      <p:sp>
        <p:nvSpPr>
          <p:cNvPr id="10" name="role1"/>
          <p:cNvSpPr txBox="1"/>
          <p:nvPr/>
        </p:nvSpPr>
        <p:spPr>
          <a:xfrm>
            <a:off x="4587087" y="4709160"/>
            <a:ext cx="3017520" cy="10972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lang="fr-FR">
                <a:solidFill>
                  <a:srgbClr val="B8BCC6"/>
                </a:solidFill>
                <a:latin typeface="Montserrat"/>
              </a:rPr>
              <a:t>[Rôle à préciser]</a:t>
            </a:r>
          </a:p>
        </p:txBody>
      </p:sp>
      <p:sp>
        <p:nvSpPr>
          <p:cNvPr id="11" name="!!carte2"/>
          <p:cNvSpPr/>
          <p:nvPr/>
        </p:nvSpPr>
        <p:spPr>
          <a:xfrm>
            <a:off x="8153247" y="1691640"/>
            <a:ext cx="3291840" cy="4206240"/>
          </a:xfrm>
          <a:prstGeom prst="roundRect">
            <a:avLst>
              <a:gd name="adj" fmla="val 6000"/>
            </a:avLst>
          </a:prstGeom>
          <a:solidFill>
            <a:srgbClr val="1C1C1C"/>
          </a:solidFill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photo2"/>
          <p:cNvSpPr/>
          <p:nvPr/>
        </p:nvSpPr>
        <p:spPr>
          <a:xfrm>
            <a:off x="8930487" y="2011680"/>
            <a:ext cx="1737360" cy="1737360"/>
          </a:xfrm>
          <a:prstGeom prst="ellipse">
            <a:avLst/>
          </a:prstGeom>
          <a:solidFill>
            <a:srgbClr val="1B3A6B"/>
          </a:solidFill>
          <a:ln w="381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/>
            <a:r>
              <a:rPr sz="4400" lang="fr-FR">
                <a:solidFill>
                  <a:srgbClr val="FFFFFF"/>
                </a:solidFill>
                <a:latin typeface="Montserrat ExtraBold"/>
              </a:rPr>
              <a:t>A</a:t>
            </a:r>
          </a:p>
        </p:txBody>
      </p:sp>
      <p:sp>
        <p:nvSpPr>
          <p:cNvPr id="13" name="nom2"/>
          <p:cNvSpPr txBox="1"/>
          <p:nvPr/>
        </p:nvSpPr>
        <p:spPr>
          <a:xfrm>
            <a:off x="8290407" y="3886200"/>
            <a:ext cx="3017520" cy="7315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lang="fr-FR">
                <a:solidFill>
                  <a:srgbClr val="FFFFFF"/>
                </a:solidFill>
                <a:latin typeface="Montserrat ExtraBold"/>
              </a:rPr>
              <a:t>Antho</a:t>
            </a:r>
          </a:p>
        </p:txBody>
      </p:sp>
      <p:sp>
        <p:nvSpPr>
          <p:cNvPr id="14" name="role2"/>
          <p:cNvSpPr txBox="1"/>
          <p:nvPr/>
        </p:nvSpPr>
        <p:spPr>
          <a:xfrm>
            <a:off x="8290407" y="4709160"/>
            <a:ext cx="3017520" cy="10972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lang="fr-FR">
                <a:solidFill>
                  <a:srgbClr val="B8BCC6"/>
                </a:solidFill>
                <a:latin typeface="Montserrat"/>
              </a:rPr>
              <a:t>[Rôle à préciser]</a:t>
            </a:r>
          </a:p>
        </p:txBody>
      </p:sp>
      <p:pic>
        <p:nvPicPr>
          <p:cNvPr id="15" name="!!logo" descr="Emblème YEBA FORMATIONS : trois pitons reliés en résea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6236208"/>
            <a:ext cx="868680" cy="406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titre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728655" cy="914400"/>
          </a:xfrm>
        </p:spPr>
        <p:txBody>
          <a:bodyPr wrap="square" anchor="t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5200" lang="fr-FR">
                <a:solidFill>
                  <a:srgbClr val="FFFFFF"/>
                </a:solidFill>
                <a:latin typeface="Montserrat ExtraBold"/>
              </a:rPr>
              <a:t>Certifié. </a:t>
            </a:r>
            <a:r>
              <a:rPr sz="5200" lang="fr-FR">
                <a:solidFill>
                  <a:srgbClr val="C9A84C"/>
                </a:solidFill>
                <a:latin typeface="Montserrat ExtraBold"/>
              </a:rPr>
              <a:t>Pas autoproclamé.</a:t>
            </a:r>
          </a:p>
        </p:txBody>
      </p:sp>
      <p:sp>
        <p:nvSpPr>
          <p:cNvPr id="3" name="!!badge0"/>
          <p:cNvSpPr/>
          <p:nvPr/>
        </p:nvSpPr>
        <p:spPr>
          <a:xfrm>
            <a:off x="769467" y="1828800"/>
            <a:ext cx="3337560" cy="1600200"/>
          </a:xfrm>
          <a:prstGeom prst="roundRect">
            <a:avLst>
              <a:gd name="adj" fmla="val 18000"/>
            </a:avLst>
          </a:prstGeom>
          <a:solidFill>
            <a:srgbClr val="1C1C1C"/>
          </a:solidFill>
          <a:ln w="317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/>
            <a:r>
              <a:rPr sz="3000" lang="fr-FR">
                <a:solidFill>
                  <a:srgbClr val="FFFFFF"/>
                </a:solidFill>
                <a:latin typeface="Montserrat ExtraBold"/>
              </a:rPr>
              <a:t>Qualiopi</a:t>
            </a:r>
          </a:p>
        </p:txBody>
      </p:sp>
      <p:sp>
        <p:nvSpPr>
          <p:cNvPr id="4" name="!!badge1"/>
          <p:cNvSpPr/>
          <p:nvPr/>
        </p:nvSpPr>
        <p:spPr>
          <a:xfrm>
            <a:off x="4427067" y="1828800"/>
            <a:ext cx="3337560" cy="1600200"/>
          </a:xfrm>
          <a:prstGeom prst="roundRect">
            <a:avLst>
              <a:gd name="adj" fmla="val 18000"/>
            </a:avLst>
          </a:prstGeom>
          <a:solidFill>
            <a:srgbClr val="1C1C1C"/>
          </a:solidFill>
          <a:ln w="317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/>
            <a:r>
              <a:rPr sz="3000" lang="fr-FR">
                <a:solidFill>
                  <a:srgbClr val="FFFFFF"/>
                </a:solidFill>
                <a:latin typeface="Montserrat ExtraBold"/>
              </a:rPr>
              <a:t>Google AI Specialist</a:t>
            </a:r>
          </a:p>
        </p:txBody>
      </p:sp>
      <p:sp>
        <p:nvSpPr>
          <p:cNvPr id="5" name="!!badge2"/>
          <p:cNvSpPr/>
          <p:nvPr/>
        </p:nvSpPr>
        <p:spPr>
          <a:xfrm>
            <a:off x="8084667" y="1828800"/>
            <a:ext cx="3337560" cy="1600200"/>
          </a:xfrm>
          <a:prstGeom prst="roundRect">
            <a:avLst>
              <a:gd name="adj" fmla="val 18000"/>
            </a:avLst>
          </a:prstGeom>
          <a:solidFill>
            <a:srgbClr val="1C1C1C"/>
          </a:solidFill>
          <a:ln w="317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/>
            <a:r>
              <a:rPr sz="3000" lang="fr-FR">
                <a:solidFill>
                  <a:srgbClr val="FFFFFF"/>
                </a:solidFill>
                <a:latin typeface="Montserrat ExtraBold"/>
              </a:rPr>
              <a:t>Google Professional AI</a:t>
            </a:r>
          </a:p>
        </p:txBody>
      </p:sp>
      <p:sp>
        <p:nvSpPr>
          <p:cNvPr id="6" name="!!badge3"/>
          <p:cNvSpPr/>
          <p:nvPr/>
        </p:nvSpPr>
        <p:spPr>
          <a:xfrm>
            <a:off x="769467" y="3794760"/>
            <a:ext cx="3337560" cy="1600200"/>
          </a:xfrm>
          <a:prstGeom prst="roundRect">
            <a:avLst>
              <a:gd name="adj" fmla="val 18000"/>
            </a:avLst>
          </a:prstGeom>
          <a:solidFill>
            <a:srgbClr val="1C1C1C"/>
          </a:solidFill>
          <a:ln w="317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/>
            <a:r>
              <a:rPr sz="2200" lang="fr-FR">
                <a:solidFill>
                  <a:srgbClr val="FFFFFF"/>
                </a:solidFill>
                <a:latin typeface="Montserrat ExtraBold"/>
              </a:rPr>
              <a:t>SecNumacadémie ANSSI</a:t>
            </a:r>
          </a:p>
        </p:txBody>
      </p:sp>
      <p:sp>
        <p:nvSpPr>
          <p:cNvPr id="7" name="!!badge4"/>
          <p:cNvSpPr/>
          <p:nvPr/>
        </p:nvSpPr>
        <p:spPr>
          <a:xfrm>
            <a:off x="4427067" y="3794760"/>
            <a:ext cx="3337560" cy="1600200"/>
          </a:xfrm>
          <a:prstGeom prst="roundRect">
            <a:avLst>
              <a:gd name="adj" fmla="val 18000"/>
            </a:avLst>
          </a:prstGeom>
          <a:solidFill>
            <a:srgbClr val="1C1C1C"/>
          </a:solidFill>
          <a:ln w="317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/>
            <a:r>
              <a:rPr sz="3000" lang="fr-FR">
                <a:solidFill>
                  <a:srgbClr val="FFFFFF"/>
                </a:solidFill>
                <a:latin typeface="Montserrat ExtraBold"/>
              </a:rPr>
              <a:t>MOOC CNIL — RGPD</a:t>
            </a:r>
          </a:p>
        </p:txBody>
      </p:sp>
      <p:sp>
        <p:nvSpPr>
          <p:cNvPr id="8" name="!!badge5"/>
          <p:cNvSpPr/>
          <p:nvPr/>
        </p:nvSpPr>
        <p:spPr>
          <a:xfrm>
            <a:off x="8084667" y="3794760"/>
            <a:ext cx="3337560" cy="1600200"/>
          </a:xfrm>
          <a:prstGeom prst="roundRect">
            <a:avLst>
              <a:gd name="adj" fmla="val 18000"/>
            </a:avLst>
          </a:prstGeom>
          <a:solidFill>
            <a:srgbClr val="1C1C1C"/>
          </a:solidFill>
          <a:ln w="317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/>
            <a:r>
              <a:rPr sz="3000" lang="fr-FR">
                <a:solidFill>
                  <a:srgbClr val="FFFFFF"/>
                </a:solidFill>
                <a:latin typeface="Montserrat ExtraBold"/>
              </a:rPr>
              <a:t>Référent handicap</a:t>
            </a:r>
          </a:p>
        </p:txBody>
      </p:sp>
      <p:pic>
        <p:nvPicPr>
          <p:cNvPr id="9" name="!!logo" descr="Emblème YEBA FORMATIONS : trois pitons reliés en résea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6236208"/>
            <a:ext cx="868680" cy="406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titre"/>
          <p:cNvSpPr>
            <a:spLocks noGrp="1"/>
          </p:cNvSpPr>
          <p:nvPr>
            <p:ph type="title"/>
          </p:nvPr>
        </p:nvSpPr>
        <p:spPr>
          <a:xfrm>
            <a:off x="731520" y="411480"/>
            <a:ext cx="7315200" cy="731520"/>
          </a:xfrm>
        </p:spPr>
        <p:txBody>
          <a:bodyPr wrap="square" anchor="t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lang="fr-FR">
                <a:solidFill>
                  <a:srgbClr val="FFFFFF"/>
                </a:solidFill>
                <a:latin typeface="Montserrat ExtraBold"/>
              </a:rPr>
              <a:t>Le fil de la soirée</a:t>
            </a:r>
          </a:p>
        </p:txBody>
      </p:sp>
      <p:sp>
        <p:nvSpPr>
          <p:cNvPr id="3" name="!!agn0"/>
          <p:cNvSpPr txBox="1"/>
          <p:nvPr/>
        </p:nvSpPr>
        <p:spPr>
          <a:xfrm>
            <a:off x="1051560" y="1325880"/>
            <a:ext cx="82296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 ExtraBold"/>
              </a:rPr>
              <a:t>01</a:t>
            </a:r>
          </a:p>
        </p:txBody>
      </p:sp>
      <p:sp>
        <p:nvSpPr>
          <p:cNvPr id="4" name="!!ag0"/>
          <p:cNvSpPr txBox="1"/>
          <p:nvPr/>
        </p:nvSpPr>
        <p:spPr>
          <a:xfrm>
            <a:off x="1920240" y="1325880"/>
            <a:ext cx="576072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"/>
              </a:rPr>
              <a:t>Présentation</a:t>
            </a:r>
          </a:p>
        </p:txBody>
      </p:sp>
      <p:sp>
        <p:nvSpPr>
          <p:cNvPr id="5" name="!!agn1"/>
          <p:cNvSpPr txBox="1"/>
          <p:nvPr/>
        </p:nvSpPr>
        <p:spPr>
          <a:xfrm>
            <a:off x="1051560" y="2057400"/>
            <a:ext cx="82296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C9A84C"/>
                </a:solidFill>
                <a:latin typeface="Montserrat ExtraBold"/>
              </a:rPr>
              <a:t>02</a:t>
            </a:r>
          </a:p>
        </p:txBody>
      </p:sp>
      <p:sp>
        <p:nvSpPr>
          <p:cNvPr id="6" name="!!ag1"/>
          <p:cNvSpPr txBox="1"/>
          <p:nvPr/>
        </p:nvSpPr>
        <p:spPr>
          <a:xfrm>
            <a:off x="1920240" y="2057400"/>
            <a:ext cx="576072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lang="fr-FR">
                <a:solidFill>
                  <a:srgbClr val="FFFFFF"/>
                </a:solidFill>
                <a:latin typeface="Montserrat ExtraBold"/>
              </a:rPr>
              <a:t>Histoire</a:t>
            </a:r>
          </a:p>
        </p:txBody>
      </p:sp>
      <p:sp>
        <p:nvSpPr>
          <p:cNvPr id="7" name="!!agn2"/>
          <p:cNvSpPr txBox="1"/>
          <p:nvPr/>
        </p:nvSpPr>
        <p:spPr>
          <a:xfrm>
            <a:off x="1051560" y="2788920"/>
            <a:ext cx="82296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 ExtraBold"/>
              </a:rPr>
              <a:t>03</a:t>
            </a:r>
          </a:p>
        </p:txBody>
      </p:sp>
      <p:sp>
        <p:nvSpPr>
          <p:cNvPr id="8" name="!!ag2"/>
          <p:cNvSpPr txBox="1"/>
          <p:nvPr/>
        </p:nvSpPr>
        <p:spPr>
          <a:xfrm>
            <a:off x="1920240" y="2788920"/>
            <a:ext cx="576072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"/>
              </a:rPr>
              <a:t>L'offre YEBA</a:t>
            </a:r>
          </a:p>
        </p:txBody>
      </p:sp>
      <p:sp>
        <p:nvSpPr>
          <p:cNvPr id="9" name="!!agn3"/>
          <p:cNvSpPr txBox="1"/>
          <p:nvPr/>
        </p:nvSpPr>
        <p:spPr>
          <a:xfrm>
            <a:off x="1051560" y="3520440"/>
            <a:ext cx="82296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 ExtraBold"/>
              </a:rPr>
              <a:t>04</a:t>
            </a:r>
          </a:p>
        </p:txBody>
      </p:sp>
      <p:sp>
        <p:nvSpPr>
          <p:cNvPr id="10" name="!!ag3"/>
          <p:cNvSpPr txBox="1"/>
          <p:nvPr/>
        </p:nvSpPr>
        <p:spPr>
          <a:xfrm>
            <a:off x="1920240" y="3520440"/>
            <a:ext cx="576072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"/>
              </a:rPr>
              <a:t>Nos formations</a:t>
            </a:r>
          </a:p>
        </p:txBody>
      </p:sp>
      <p:sp>
        <p:nvSpPr>
          <p:cNvPr id="11" name="!!agn4"/>
          <p:cNvSpPr txBox="1"/>
          <p:nvPr/>
        </p:nvSpPr>
        <p:spPr>
          <a:xfrm>
            <a:off x="1051560" y="4251960"/>
            <a:ext cx="82296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 ExtraBold"/>
              </a:rPr>
              <a:t>05</a:t>
            </a:r>
          </a:p>
        </p:txBody>
      </p:sp>
      <p:sp>
        <p:nvSpPr>
          <p:cNvPr id="12" name="!!ag4"/>
          <p:cNvSpPr txBox="1"/>
          <p:nvPr/>
        </p:nvSpPr>
        <p:spPr>
          <a:xfrm>
            <a:off x="1920240" y="4251960"/>
            <a:ext cx="576072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"/>
              </a:rPr>
              <a:t>Applications &amp; sites web</a:t>
            </a:r>
          </a:p>
        </p:txBody>
      </p:sp>
      <p:sp>
        <p:nvSpPr>
          <p:cNvPr id="13" name="!!agn5"/>
          <p:cNvSpPr txBox="1"/>
          <p:nvPr/>
        </p:nvSpPr>
        <p:spPr>
          <a:xfrm>
            <a:off x="1051560" y="4983480"/>
            <a:ext cx="82296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 ExtraBold"/>
              </a:rPr>
              <a:t>06</a:t>
            </a:r>
          </a:p>
        </p:txBody>
      </p:sp>
      <p:sp>
        <p:nvSpPr>
          <p:cNvPr id="14" name="!!ag5"/>
          <p:cNvSpPr txBox="1"/>
          <p:nvPr/>
        </p:nvSpPr>
        <p:spPr>
          <a:xfrm>
            <a:off x="1920240" y="4983480"/>
            <a:ext cx="576072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"/>
              </a:rPr>
              <a:t>Audit &amp; devis</a:t>
            </a:r>
          </a:p>
        </p:txBody>
      </p:sp>
      <p:sp>
        <p:nvSpPr>
          <p:cNvPr id="15" name="!!agn6"/>
          <p:cNvSpPr txBox="1"/>
          <p:nvPr/>
        </p:nvSpPr>
        <p:spPr>
          <a:xfrm>
            <a:off x="1051560" y="5715000"/>
            <a:ext cx="82296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 ExtraBold"/>
              </a:rPr>
              <a:t>07</a:t>
            </a:r>
          </a:p>
        </p:txBody>
      </p:sp>
      <p:sp>
        <p:nvSpPr>
          <p:cNvPr id="16" name="!!ag6"/>
          <p:cNvSpPr txBox="1"/>
          <p:nvPr/>
        </p:nvSpPr>
        <p:spPr>
          <a:xfrm>
            <a:off x="1920240" y="5715000"/>
            <a:ext cx="576072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"/>
              </a:rPr>
              <a:t>Mot de fin — offre soirée</a:t>
            </a:r>
          </a:p>
        </p:txBody>
      </p:sp>
      <p:sp>
        <p:nvSpPr>
          <p:cNvPr id="17" name="!!marqueur"/>
          <p:cNvSpPr/>
          <p:nvPr/>
        </p:nvSpPr>
        <p:spPr>
          <a:xfrm>
            <a:off x="731520" y="2130552"/>
            <a:ext cx="128016" cy="4937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agbig"/>
          <p:cNvSpPr txBox="1"/>
          <p:nvPr/>
        </p:nvSpPr>
        <p:spPr>
          <a:xfrm>
            <a:off x="7223760" y="1280160"/>
            <a:ext cx="4663440" cy="38404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lnSpc>
                <a:spcPct val="100000"/>
              </a:lnSpc>
            </a:pPr>
            <a:r>
              <a:rPr sz="21000" lang="fr-FR">
                <a:solidFill>
                  <a:srgbClr val="C9A84C"/>
                </a:solidFill>
                <a:latin typeface="Montserrat Black"/>
              </a:rPr>
              <a:t>02</a:t>
            </a:r>
          </a:p>
        </p:txBody>
      </p:sp>
      <p:pic>
        <p:nvPicPr>
          <p:cNvPr id="19" name="!!logo" descr="Emblème YEBA FORMATIONS : trois pitons reliés en résea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6236208"/>
            <a:ext cx="868680" cy="406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titre"/>
          <p:cNvSpPr>
            <a:spLocks noGrp="1"/>
          </p:cNvSpPr>
          <p:nvPr>
            <p:ph type="title"/>
          </p:nvPr>
        </p:nvSpPr>
        <p:spPr>
          <a:xfrm>
            <a:off x="2194560" y="1737360"/>
            <a:ext cx="9326880" cy="4023360"/>
          </a:xfrm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5000"/>
              </a:lnSpc>
            </a:pPr>
            <a:r>
              <a:rPr sz="5400" lang="fr-FR">
                <a:solidFill>
                  <a:srgbClr val="FFFFFF"/>
                </a:solidFill>
                <a:latin typeface="Montserrat ExtraBold"/>
              </a:rPr>
              <a:t>Pas de mot pour « formation ».</a:t>
            </a:r>
          </a:p>
          <a:p>
            <a:pPr algn="l">
              <a:lnSpc>
                <a:spcPct val="105000"/>
              </a:lnSpc>
            </a:pPr>
            <a:r>
              <a:rPr sz="5400" lang="fr-FR">
                <a:solidFill>
                  <a:srgbClr val="C9A84C"/>
                </a:solidFill>
                <a:latin typeface="Montserrat ExtraBold"/>
              </a:rPr>
              <a:t>Alors maman a dit : Ko yeba. Le savoir.</a:t>
            </a:r>
          </a:p>
        </p:txBody>
      </p:sp>
      <p:sp>
        <p:nvSpPr>
          <p:cNvPr id="3" name="guillemets"/>
          <p:cNvSpPr txBox="1"/>
          <p:nvPr/>
        </p:nvSpPr>
        <p:spPr>
          <a:xfrm>
            <a:off x="274320" y="182880"/>
            <a:ext cx="2011680" cy="20116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0000" lang="fr-FR">
                <a:solidFill>
                  <a:srgbClr val="4A3F22"/>
                </a:solidFill>
                <a:latin typeface="Montserrat Black"/>
              </a:rPr>
              <a:t>«</a:t>
            </a:r>
          </a:p>
        </p:txBody>
      </p:sp>
      <p:pic>
        <p:nvPicPr>
          <p:cNvPr id="4" name="!!logo" descr="Emblème YEBA FORMATIONS : trois pitons reliés en résea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6236208"/>
            <a:ext cx="868680" cy="406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yeba"/>
          <p:cNvSpPr>
            <a:spLocks noGrp="1"/>
          </p:cNvSpPr>
          <p:nvPr>
            <p:ph type="title"/>
          </p:nvPr>
        </p:nvSpPr>
        <p:spPr>
          <a:xfrm>
            <a:off x="274320" y="640080"/>
            <a:ext cx="11643055" cy="3931920"/>
          </a:xfrm>
        </p:spPr>
        <p:txBody>
          <a:bodyPr wrap="square" anchor="ctr" lIns="45720" rIns="45720">
            <a:noAutofit/>
          </a:bodyPr>
          <a:lstStyle/>
          <a:p>
            <a:pPr algn="ctr">
              <a:lnSpc>
                <a:spcPct val="100000"/>
              </a:lnSpc>
            </a:pPr>
            <a:r>
              <a:rPr sz="25000" lang="fr-FR">
                <a:solidFill>
                  <a:srgbClr val="C9A84C"/>
                </a:solidFill>
                <a:latin typeface="Montserrat Black"/>
              </a:rPr>
              <a:t>YEBA</a:t>
            </a:r>
          </a:p>
        </p:txBody>
      </p:sp>
      <p:sp>
        <p:nvSpPr>
          <p:cNvPr id="3" name="traduction"/>
          <p:cNvSpPr txBox="1"/>
          <p:nvPr/>
        </p:nvSpPr>
        <p:spPr>
          <a:xfrm>
            <a:off x="457200" y="4754880"/>
            <a:ext cx="11277295" cy="8229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>
              <a:lnSpc>
                <a:spcPct val="100000"/>
              </a:lnSpc>
            </a:pPr>
            <a:r>
              <a:rPr sz="3600" lang="fr-FR">
                <a:solidFill>
                  <a:srgbClr val="FFFFFF"/>
                </a:solidFill>
                <a:latin typeface="Montserrat ExtraBold"/>
              </a:rPr>
              <a:t>« Savoir, connaître » — en lingala</a:t>
            </a:r>
          </a:p>
        </p:txBody>
      </p:sp>
      <p:pic>
        <p:nvPicPr>
          <p:cNvPr id="4" name="!!logo" descr="Emblème YEBA FORMATIONS : trois pitons reliés en résea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6236208"/>
            <a:ext cx="868680" cy="406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yeba"/>
          <p:cNvSpPr>
            <a:spLocks noGrp="1"/>
          </p:cNvSpPr>
          <p:nvPr>
            <p:ph type="title"/>
          </p:nvPr>
        </p:nvSpPr>
        <p:spPr>
          <a:xfrm>
            <a:off x="3809847" y="457200"/>
            <a:ext cx="4572000" cy="5760720"/>
          </a:xfrm>
        </p:spPr>
        <p:txBody>
          <a:bodyPr wrap="square" anchor="ctr" lIns="45720" rIns="45720">
            <a:noAutofit/>
          </a:bodyPr>
          <a:lstStyle/>
          <a:p>
            <a:pPr algn="ctr">
              <a:lnSpc>
                <a:spcPct val="100000"/>
              </a:lnSpc>
            </a:pPr>
            <a:r>
              <a:rPr sz="38000" lang="fr-FR">
                <a:solidFill>
                  <a:srgbClr val="C9A84C"/>
                </a:solidFill>
                <a:latin typeface="Montserrat Black"/>
              </a:rPr>
              <a:t>Y</a:t>
            </a:r>
          </a:p>
        </p:txBody>
      </p:sp>
      <p:sp>
        <p:nvSpPr>
          <p:cNvPr id="3" name="branche-gauche"/>
          <p:cNvSpPr txBox="1"/>
          <p:nvPr/>
        </p:nvSpPr>
        <p:spPr>
          <a:xfrm>
            <a:off x="548640" y="1005840"/>
            <a:ext cx="3566160" cy="173736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lnSpc>
                <a:spcPct val="100000"/>
              </a:lnSpc>
            </a:pPr>
            <a:r>
              <a:rPr sz="3400" lang="fr-FR">
                <a:solidFill>
                  <a:srgbClr val="FFFFFF"/>
                </a:solidFill>
                <a:latin typeface="Montserrat ExtraBold"/>
              </a:rPr>
              <a:t>L'arbre de la connaissance</a:t>
            </a:r>
          </a:p>
        </p:txBody>
      </p:sp>
      <p:sp>
        <p:nvSpPr>
          <p:cNvPr id="4" name="branche-droite"/>
          <p:cNvSpPr txBox="1"/>
          <p:nvPr/>
        </p:nvSpPr>
        <p:spPr>
          <a:xfrm>
            <a:off x="8076895" y="1005840"/>
            <a:ext cx="3566160" cy="173736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lang="fr-FR">
                <a:solidFill>
                  <a:srgbClr val="FFFFFF"/>
                </a:solidFill>
                <a:latin typeface="Montserrat ExtraBold"/>
              </a:rPr>
              <a:t>L'arbre à palabres</a:t>
            </a:r>
          </a:p>
        </p:txBody>
      </p:sp>
      <p:sp>
        <p:nvSpPr>
          <p:cNvPr id="5" name="sous-gauche"/>
          <p:cNvSpPr txBox="1"/>
          <p:nvPr/>
        </p:nvSpPr>
        <p:spPr>
          <a:xfrm>
            <a:off x="548640" y="2788920"/>
            <a:ext cx="356616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lang="fr-FR">
                <a:solidFill>
                  <a:srgbClr val="B8BCC6"/>
                </a:solidFill>
                <a:latin typeface="Montserrat"/>
              </a:rPr>
              <a:t>Genèse · Savoir</a:t>
            </a:r>
          </a:p>
        </p:txBody>
      </p:sp>
      <p:sp>
        <p:nvSpPr>
          <p:cNvPr id="6" name="sous-droite"/>
          <p:cNvSpPr txBox="1"/>
          <p:nvPr/>
        </p:nvSpPr>
        <p:spPr>
          <a:xfrm>
            <a:off x="8076895" y="2788920"/>
            <a:ext cx="356616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lang="fr-FR">
                <a:solidFill>
                  <a:srgbClr val="B8BCC6"/>
                </a:solidFill>
                <a:latin typeface="Montserrat"/>
              </a:rPr>
              <a:t>Afrique · Transmission</a:t>
            </a:r>
          </a:p>
        </p:txBody>
      </p:sp>
      <p:pic>
        <p:nvPicPr>
          <p:cNvPr id="7" name="!!logo" descr="Emblème YEBA FORMATIONS : trois pitons reliés en résea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6236208"/>
            <a:ext cx="868680" cy="406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Cha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titre"/>
          <p:cNvSpPr>
            <a:spLocks noGrp="1"/>
          </p:cNvSpPr>
          <p:nvPr>
            <p:ph type="title"/>
          </p:nvPr>
        </p:nvSpPr>
        <p:spPr>
          <a:xfrm>
            <a:off x="731520" y="1554480"/>
            <a:ext cx="5669280" cy="2743200"/>
          </a:xfrm>
        </p:spPr>
        <p:txBody>
          <a:bodyPr wrap="square" anchor="b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5800" lang="fr-FR">
                <a:solidFill>
                  <a:srgbClr val="FFFFFF"/>
                </a:solidFill>
                <a:latin typeface="Montserrat ExtraBold"/>
              </a:rPr>
              <a:t>Sous le baobab,</a:t>
            </a:r>
          </a:p>
          <a:p>
            <a:pPr algn="l">
              <a:lnSpc>
                <a:spcPct val="100000"/>
              </a:lnSpc>
            </a:pPr>
            <a:r>
              <a:rPr sz="5800" lang="fr-FR">
                <a:solidFill>
                  <a:srgbClr val="C9A84C"/>
                </a:solidFill>
                <a:latin typeface="Montserrat ExtraBold"/>
              </a:rPr>
              <a:t>on transmet.</a:t>
            </a:r>
          </a:p>
        </p:txBody>
      </p:sp>
      <p:pic>
        <p:nvPicPr>
          <p:cNvPr id="3" name="!!baobab" descr="Silhouette dorée d'un baobab, l'arbre à palabr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320040"/>
            <a:ext cx="5233182" cy="5669280"/>
          </a:xfrm>
          <a:prstGeom prst="rect">
            <a:avLst/>
          </a:prstGeom>
        </p:spPr>
      </p:pic>
      <p:sp>
        <p:nvSpPr>
          <p:cNvPr id="4" name="mots"/>
          <p:cNvSpPr txBox="1"/>
          <p:nvPr/>
        </p:nvSpPr>
        <p:spPr>
          <a:xfrm>
            <a:off x="731520" y="4480560"/>
            <a:ext cx="5669280" cy="10972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B8BCC6"/>
                </a:solidFill>
                <a:latin typeface="Montserrat"/>
              </a:rPr>
              <a:t>Histoires · Vérités · Générations</a:t>
            </a:r>
          </a:p>
        </p:txBody>
      </p:sp>
      <p:pic>
        <p:nvPicPr>
          <p:cNvPr id="5" name="!!logo" descr="Emblème YEBA FORMATIONS : trois pitons reliés en réseau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255" y="6236208"/>
            <a:ext cx="868680" cy="406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titre"/>
          <p:cNvSpPr>
            <a:spLocks noGrp="1"/>
          </p:cNvSpPr>
          <p:nvPr>
            <p:ph type="title"/>
          </p:nvPr>
        </p:nvSpPr>
        <p:spPr>
          <a:xfrm>
            <a:off x="0" y="411480"/>
            <a:ext cx="6095847" cy="914400"/>
          </a:xfrm>
        </p:spPr>
        <p:txBody>
          <a:bodyPr wrap="square" anchor="t" lIns="45720" rIns="45720">
            <a:noAutofit/>
          </a:bodyPr>
          <a:lstStyle/>
          <a:p>
            <a:pPr algn="ctr">
              <a:lnSpc>
                <a:spcPct val="100000"/>
              </a:lnSpc>
            </a:pPr>
            <a:r>
              <a:rPr sz="5000" lang="fr-FR">
                <a:solidFill>
                  <a:srgbClr val="FFFFFF"/>
                </a:solidFill>
                <a:latin typeface="Montserrat ExtraBold"/>
              </a:rPr>
              <a:t>Des racines.</a:t>
            </a:r>
          </a:p>
        </p:txBody>
      </p:sp>
      <p:sp>
        <p:nvSpPr>
          <p:cNvPr id="3" name="!!droite"/>
          <p:cNvSpPr/>
          <p:nvPr/>
        </p:nvSpPr>
        <p:spPr>
          <a:xfrm>
            <a:off x="6095847" y="0"/>
            <a:ext cx="6095847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re-droite"/>
          <p:cNvSpPr txBox="1"/>
          <p:nvPr/>
        </p:nvSpPr>
        <p:spPr>
          <a:xfrm>
            <a:off x="6095847" y="411480"/>
            <a:ext cx="6095847" cy="9144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>
              <a:lnSpc>
                <a:spcPct val="100000"/>
              </a:lnSpc>
            </a:pPr>
            <a:r>
              <a:rPr sz="5000" lang="fr-FR">
                <a:solidFill>
                  <a:srgbClr val="C9A84C"/>
                </a:solidFill>
                <a:latin typeface="Montserrat ExtraBold"/>
              </a:rPr>
              <a:t>Un réseau.</a:t>
            </a:r>
          </a:p>
        </p:txBody>
      </p:sp>
      <p:sp>
        <p:nvSpPr>
          <p:cNvPr id="5" name="mots-gauche"/>
          <p:cNvSpPr txBox="1"/>
          <p:nvPr/>
        </p:nvSpPr>
        <p:spPr>
          <a:xfrm>
            <a:off x="457200" y="1645920"/>
            <a:ext cx="5181447" cy="29260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>
              <a:lnSpc>
                <a:spcPct val="115000"/>
              </a:lnSpc>
            </a:pPr>
            <a:r>
              <a:rPr sz="2400" lang="fr-FR" spc="600">
                <a:solidFill>
                  <a:srgbClr val="C9A84C"/>
                </a:solidFill>
                <a:latin typeface="Montserrat ExtraBold"/>
              </a:rPr>
              <a:t>HÉRITAGE</a:t>
            </a:r>
          </a:p>
          <a:p>
            <a:pPr algn="ctr">
              <a:lnSpc>
                <a:spcPct val="115000"/>
              </a:lnSpc>
            </a:pPr>
            <a:r>
              <a:rPr sz="3600" lang="fr-FR">
                <a:solidFill>
                  <a:srgbClr val="FFFFFF"/>
                </a:solidFill>
                <a:latin typeface="Montserrat ExtraBold"/>
              </a:rPr>
              <a:t>Afrique</a:t>
            </a:r>
          </a:p>
          <a:p>
            <a:pPr algn="ctr">
              <a:lnSpc>
                <a:spcPct val="115000"/>
              </a:lnSpc>
            </a:pPr>
            <a:r>
              <a:rPr sz="3600" lang="fr-FR">
                <a:solidFill>
                  <a:srgbClr val="FFFFFF"/>
                </a:solidFill>
                <a:latin typeface="Montserrat ExtraBold"/>
              </a:rPr>
              <a:t>Baobab</a:t>
            </a:r>
          </a:p>
          <a:p>
            <a:pPr algn="ctr">
              <a:lnSpc>
                <a:spcPct val="115000"/>
              </a:lnSpc>
            </a:pPr>
            <a:r>
              <a:rPr sz="3600" lang="fr-FR">
                <a:solidFill>
                  <a:srgbClr val="FFFFFF"/>
                </a:solidFill>
                <a:latin typeface="Montserrat ExtraBold"/>
              </a:rPr>
              <a:t>Transmission</a:t>
            </a:r>
          </a:p>
        </p:txBody>
      </p:sp>
      <p:sp>
        <p:nvSpPr>
          <p:cNvPr id="6" name="mots-droite"/>
          <p:cNvSpPr txBox="1"/>
          <p:nvPr/>
        </p:nvSpPr>
        <p:spPr>
          <a:xfrm>
            <a:off x="6553047" y="1645920"/>
            <a:ext cx="5181447" cy="29260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>
              <a:lnSpc>
                <a:spcPct val="115000"/>
              </a:lnSpc>
            </a:pPr>
            <a:r>
              <a:rPr sz="2400" lang="fr-FR" spc="600">
                <a:solidFill>
                  <a:srgbClr val="C9A84C"/>
                </a:solidFill>
                <a:latin typeface="Montserrat ExtraBold"/>
              </a:rPr>
              <a:t>MODERNITÉ</a:t>
            </a:r>
          </a:p>
          <a:p>
            <a:pPr algn="ctr">
              <a:lnSpc>
                <a:spcPct val="115000"/>
              </a:lnSpc>
            </a:pPr>
            <a:r>
              <a:rPr sz="3600" lang="fr-FR">
                <a:solidFill>
                  <a:srgbClr val="FFFFFF"/>
                </a:solidFill>
                <a:latin typeface="Montserrat ExtraBold"/>
              </a:rPr>
              <a:t>IA</a:t>
            </a:r>
          </a:p>
          <a:p>
            <a:pPr algn="ctr">
              <a:lnSpc>
                <a:spcPct val="115000"/>
              </a:lnSpc>
            </a:pPr>
            <a:r>
              <a:rPr sz="3600" lang="fr-FR">
                <a:solidFill>
                  <a:srgbClr val="FFFFFF"/>
                </a:solidFill>
                <a:latin typeface="Montserrat ExtraBold"/>
              </a:rPr>
              <a:t>Réseau</a:t>
            </a:r>
          </a:p>
          <a:p>
            <a:pPr algn="ctr">
              <a:lnSpc>
                <a:spcPct val="115000"/>
              </a:lnSpc>
            </a:pPr>
            <a:r>
              <a:rPr sz="3600" lang="fr-FR">
                <a:solidFill>
                  <a:srgbClr val="FFFFFF"/>
                </a:solidFill>
                <a:latin typeface="Montserrat ExtraBold"/>
              </a:rPr>
              <a:t>Pitons 974</a:t>
            </a:r>
          </a:p>
        </p:txBody>
      </p:sp>
      <p:pic>
        <p:nvPicPr>
          <p:cNvPr id="7" name="!!embleme" descr="Emblème YEBA : trois pitons reliés par un réseau, à cheval entre héritage et modernité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927" y="4892040"/>
            <a:ext cx="3291840" cy="15401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titre"/>
          <p:cNvSpPr>
            <a:spLocks noGrp="1"/>
          </p:cNvSpPr>
          <p:nvPr>
            <p:ph type="title"/>
          </p:nvPr>
        </p:nvSpPr>
        <p:spPr>
          <a:xfrm>
            <a:off x="731520" y="365760"/>
            <a:ext cx="7315200" cy="822960"/>
          </a:xfrm>
        </p:spPr>
        <p:txBody>
          <a:bodyPr wrap="square" anchor="t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lang="fr-FR">
                <a:solidFill>
                  <a:srgbClr val="FFFFFF"/>
                </a:solidFill>
                <a:latin typeface="Montserrat ExtraBold"/>
              </a:rPr>
              <a:t>5 valeurs</a:t>
            </a:r>
          </a:p>
        </p:txBody>
      </p:sp>
      <p:sp>
        <p:nvSpPr>
          <p:cNvPr id="3" name="!!num0"/>
          <p:cNvSpPr txBox="1"/>
          <p:nvPr/>
        </p:nvSpPr>
        <p:spPr>
          <a:xfrm>
            <a:off x="731520" y="1325880"/>
            <a:ext cx="1371600" cy="8686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lang="fr-FR">
                <a:solidFill>
                  <a:srgbClr val="C9A84C"/>
                </a:solidFill>
                <a:latin typeface="Montserrat Black"/>
              </a:rPr>
              <a:t>01</a:t>
            </a:r>
          </a:p>
        </p:txBody>
      </p:sp>
      <p:sp>
        <p:nvSpPr>
          <p:cNvPr id="4" name="!!val0"/>
          <p:cNvSpPr txBox="1"/>
          <p:nvPr/>
        </p:nvSpPr>
        <p:spPr>
          <a:xfrm>
            <a:off x="2286000" y="1325880"/>
            <a:ext cx="8412480" cy="8686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lang="fr-FR">
                <a:solidFill>
                  <a:srgbClr val="FFFFFF"/>
                </a:solidFill>
                <a:latin typeface="Montserrat ExtraBold"/>
              </a:rPr>
              <a:t>Transmission vivante</a:t>
            </a:r>
          </a:p>
        </p:txBody>
      </p:sp>
      <p:sp>
        <p:nvSpPr>
          <p:cNvPr id="5" name="!!num1"/>
          <p:cNvSpPr txBox="1"/>
          <p:nvPr/>
        </p:nvSpPr>
        <p:spPr>
          <a:xfrm>
            <a:off x="731520" y="2313432"/>
            <a:ext cx="1371600" cy="8686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lang="fr-FR">
                <a:solidFill>
                  <a:srgbClr val="C9A84C"/>
                </a:solidFill>
                <a:latin typeface="Montserrat Black"/>
              </a:rPr>
              <a:t>02</a:t>
            </a:r>
          </a:p>
        </p:txBody>
      </p:sp>
      <p:sp>
        <p:nvSpPr>
          <p:cNvPr id="6" name="!!val1"/>
          <p:cNvSpPr txBox="1"/>
          <p:nvPr/>
        </p:nvSpPr>
        <p:spPr>
          <a:xfrm>
            <a:off x="2286000" y="2313432"/>
            <a:ext cx="8412480" cy="8686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lang="fr-FR">
                <a:solidFill>
                  <a:srgbClr val="FFFFFF"/>
                </a:solidFill>
                <a:latin typeface="Montserrat ExtraBold"/>
              </a:rPr>
              <a:t>Bienveillance engagée</a:t>
            </a:r>
          </a:p>
        </p:txBody>
      </p:sp>
      <p:sp>
        <p:nvSpPr>
          <p:cNvPr id="7" name="!!num2"/>
          <p:cNvSpPr txBox="1"/>
          <p:nvPr/>
        </p:nvSpPr>
        <p:spPr>
          <a:xfrm>
            <a:off x="731520" y="3300984"/>
            <a:ext cx="1371600" cy="8686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lang="fr-FR">
                <a:solidFill>
                  <a:srgbClr val="C9A84C"/>
                </a:solidFill>
                <a:latin typeface="Montserrat Black"/>
              </a:rPr>
              <a:t>03</a:t>
            </a:r>
          </a:p>
        </p:txBody>
      </p:sp>
      <p:sp>
        <p:nvSpPr>
          <p:cNvPr id="8" name="!!val2"/>
          <p:cNvSpPr txBox="1"/>
          <p:nvPr/>
        </p:nvSpPr>
        <p:spPr>
          <a:xfrm>
            <a:off x="2286000" y="3300984"/>
            <a:ext cx="8412480" cy="8686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lang="fr-FR">
                <a:solidFill>
                  <a:srgbClr val="FFFFFF"/>
                </a:solidFill>
                <a:latin typeface="Montserrat ExtraBold"/>
              </a:rPr>
              <a:t>Allégresse &amp; énergie</a:t>
            </a:r>
          </a:p>
        </p:txBody>
      </p:sp>
      <p:sp>
        <p:nvSpPr>
          <p:cNvPr id="9" name="!!num3"/>
          <p:cNvSpPr txBox="1"/>
          <p:nvPr/>
        </p:nvSpPr>
        <p:spPr>
          <a:xfrm>
            <a:off x="731520" y="4288536"/>
            <a:ext cx="1371600" cy="8686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lang="fr-FR">
                <a:solidFill>
                  <a:srgbClr val="C9A84C"/>
                </a:solidFill>
                <a:latin typeface="Montserrat Black"/>
              </a:rPr>
              <a:t>04</a:t>
            </a:r>
          </a:p>
        </p:txBody>
      </p:sp>
      <p:sp>
        <p:nvSpPr>
          <p:cNvPr id="10" name="!!val3"/>
          <p:cNvSpPr txBox="1"/>
          <p:nvPr/>
        </p:nvSpPr>
        <p:spPr>
          <a:xfrm>
            <a:off x="2286000" y="4288536"/>
            <a:ext cx="8412480" cy="8686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lang="fr-FR">
                <a:solidFill>
                  <a:srgbClr val="FFFFFF"/>
                </a:solidFill>
                <a:latin typeface="Montserrat ExtraBold"/>
              </a:rPr>
              <a:t>Élévation collective</a:t>
            </a:r>
          </a:p>
        </p:txBody>
      </p:sp>
      <p:sp>
        <p:nvSpPr>
          <p:cNvPr id="11" name="!!num4"/>
          <p:cNvSpPr txBox="1"/>
          <p:nvPr/>
        </p:nvSpPr>
        <p:spPr>
          <a:xfrm>
            <a:off x="731520" y="5276088"/>
            <a:ext cx="1371600" cy="8686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lang="fr-FR">
                <a:solidFill>
                  <a:srgbClr val="C9A84C"/>
                </a:solidFill>
                <a:latin typeface="Montserrat Black"/>
              </a:rPr>
              <a:t>05</a:t>
            </a:r>
          </a:p>
        </p:txBody>
      </p:sp>
      <p:sp>
        <p:nvSpPr>
          <p:cNvPr id="12" name="!!val4"/>
          <p:cNvSpPr txBox="1"/>
          <p:nvPr/>
        </p:nvSpPr>
        <p:spPr>
          <a:xfrm>
            <a:off x="2286000" y="5276088"/>
            <a:ext cx="8412480" cy="8686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lang="fr-FR">
                <a:solidFill>
                  <a:srgbClr val="FFFFFF"/>
                </a:solidFill>
                <a:latin typeface="Montserrat ExtraBold"/>
              </a:rPr>
              <a:t>Authenticité enracinée</a:t>
            </a:r>
          </a:p>
        </p:txBody>
      </p:sp>
      <p:pic>
        <p:nvPicPr>
          <p:cNvPr id="13" name="!!logo" descr="Emblème YEBA FORMATIONS : trois pitons reliés en résea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6236208"/>
            <a:ext cx="868680" cy="406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titre"/>
          <p:cNvSpPr>
            <a:spLocks noGrp="1"/>
          </p:cNvSpPr>
          <p:nvPr>
            <p:ph type="title"/>
          </p:nvPr>
        </p:nvSpPr>
        <p:spPr>
          <a:xfrm>
            <a:off x="731520" y="411480"/>
            <a:ext cx="7315200" cy="822960"/>
          </a:xfrm>
        </p:spPr>
        <p:txBody>
          <a:bodyPr wrap="square" anchor="t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lang="fr-FR">
                <a:solidFill>
                  <a:srgbClr val="FFFFFF"/>
                </a:solidFill>
                <a:latin typeface="Montserrat ExtraBold"/>
              </a:rPr>
              <a:t>Le chemin</a:t>
            </a:r>
          </a:p>
        </p:txBody>
      </p:sp>
      <p:sp>
        <p:nvSpPr>
          <p:cNvPr id="3" name="!!ligne"/>
          <p:cNvSpPr/>
          <p:nvPr/>
        </p:nvSpPr>
        <p:spPr>
          <a:xfrm>
            <a:off x="822960" y="3566160"/>
            <a:ext cx="10545775" cy="6400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jalon0"/>
          <p:cNvSpPr/>
          <p:nvPr/>
        </p:nvSpPr>
        <p:spPr>
          <a:xfrm>
            <a:off x="1985733" y="3442716"/>
            <a:ext cx="310896" cy="310896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ate0"/>
          <p:cNvSpPr txBox="1"/>
          <p:nvPr/>
        </p:nvSpPr>
        <p:spPr>
          <a:xfrm>
            <a:off x="914400" y="2331720"/>
            <a:ext cx="2453563" cy="868680"/>
          </a:xfrm>
          <a:prstGeom prst="rect">
            <a:avLst/>
          </a:prstGeom>
          <a:noFill/>
        </p:spPr>
        <p:txBody>
          <a:bodyPr wrap="square" anchor="b" lIns="45720" rIns="45720">
            <a:noAutofit/>
          </a:bodyPr>
          <a:lstStyle/>
          <a:p>
            <a:pPr algn="ctr">
              <a:lnSpc>
                <a:spcPct val="100000"/>
              </a:lnSpc>
            </a:pPr>
            <a:r>
              <a:rPr sz="3200" lang="fr-FR">
                <a:solidFill>
                  <a:srgbClr val="C9A84C"/>
                </a:solidFill>
                <a:latin typeface="Montserrat ExtraBold"/>
              </a:rPr>
              <a:t>Avril 2021</a:t>
            </a:r>
          </a:p>
        </p:txBody>
      </p:sp>
      <p:sp>
        <p:nvSpPr>
          <p:cNvPr id="6" name="etape0"/>
          <p:cNvSpPr txBox="1"/>
          <p:nvPr/>
        </p:nvSpPr>
        <p:spPr>
          <a:xfrm>
            <a:off x="914400" y="4069080"/>
            <a:ext cx="2453563" cy="17373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lang="fr-FR">
                <a:solidFill>
                  <a:srgbClr val="FFFFFF"/>
                </a:solidFill>
                <a:latin typeface="Montserrat"/>
              </a:rPr>
              <a:t>Création</a:t>
            </a:r>
          </a:p>
        </p:txBody>
      </p:sp>
      <p:sp>
        <p:nvSpPr>
          <p:cNvPr id="7" name="!!jalon1"/>
          <p:cNvSpPr/>
          <p:nvPr/>
        </p:nvSpPr>
        <p:spPr>
          <a:xfrm>
            <a:off x="4622177" y="3442716"/>
            <a:ext cx="310896" cy="310896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ate1"/>
          <p:cNvSpPr txBox="1"/>
          <p:nvPr/>
        </p:nvSpPr>
        <p:spPr>
          <a:xfrm>
            <a:off x="3550843" y="2331720"/>
            <a:ext cx="2453563" cy="868680"/>
          </a:xfrm>
          <a:prstGeom prst="rect">
            <a:avLst/>
          </a:prstGeom>
          <a:noFill/>
        </p:spPr>
        <p:txBody>
          <a:bodyPr wrap="square" anchor="b" lIns="45720" rIns="45720">
            <a:noAutofit/>
          </a:bodyPr>
          <a:lstStyle/>
          <a:p>
            <a:pPr algn="ctr">
              <a:lnSpc>
                <a:spcPct val="100000"/>
              </a:lnSpc>
            </a:pPr>
            <a:r>
              <a:rPr sz="2800" lang="fr-FR">
                <a:solidFill>
                  <a:srgbClr val="C9A84C"/>
                </a:solidFill>
                <a:latin typeface="Montserrat ExtraBold"/>
              </a:rPr>
              <a:t>2021 → 2025</a:t>
            </a:r>
          </a:p>
        </p:txBody>
      </p:sp>
      <p:sp>
        <p:nvSpPr>
          <p:cNvPr id="9" name="etape1"/>
          <p:cNvSpPr txBox="1"/>
          <p:nvPr/>
        </p:nvSpPr>
        <p:spPr>
          <a:xfrm>
            <a:off x="3550843" y="4069080"/>
            <a:ext cx="2453563" cy="17373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lang="fr-FR">
                <a:solidFill>
                  <a:srgbClr val="FFFFFF"/>
                </a:solidFill>
                <a:latin typeface="Montserrat"/>
              </a:rPr>
              <a:t>Vente · Management · Soft skills</a:t>
            </a:r>
          </a:p>
        </p:txBody>
      </p:sp>
      <p:sp>
        <p:nvSpPr>
          <p:cNvPr id="10" name="!!jalon2"/>
          <p:cNvSpPr/>
          <p:nvPr/>
        </p:nvSpPr>
        <p:spPr>
          <a:xfrm>
            <a:off x="7258621" y="3442716"/>
            <a:ext cx="310896" cy="310896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ate2"/>
          <p:cNvSpPr txBox="1"/>
          <p:nvPr/>
        </p:nvSpPr>
        <p:spPr>
          <a:xfrm>
            <a:off x="6187287" y="2331720"/>
            <a:ext cx="2453563" cy="868680"/>
          </a:xfrm>
          <a:prstGeom prst="rect">
            <a:avLst/>
          </a:prstGeom>
          <a:noFill/>
        </p:spPr>
        <p:txBody>
          <a:bodyPr wrap="square" anchor="b" lIns="45720" rIns="45720">
            <a:noAutofit/>
          </a:bodyPr>
          <a:lstStyle/>
          <a:p>
            <a:pPr algn="ctr">
              <a:lnSpc>
                <a:spcPct val="100000"/>
              </a:lnSpc>
            </a:pPr>
            <a:r>
              <a:rPr sz="3600" lang="fr-FR">
                <a:solidFill>
                  <a:srgbClr val="C9A84C"/>
                </a:solidFill>
                <a:latin typeface="Montserrat ExtraBold"/>
              </a:rPr>
              <a:t>2026</a:t>
            </a:r>
          </a:p>
        </p:txBody>
      </p:sp>
      <p:sp>
        <p:nvSpPr>
          <p:cNvPr id="12" name="etape2"/>
          <p:cNvSpPr txBox="1"/>
          <p:nvPr/>
        </p:nvSpPr>
        <p:spPr>
          <a:xfrm>
            <a:off x="6187287" y="4069080"/>
            <a:ext cx="2453563" cy="17373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lang="fr-FR">
                <a:solidFill>
                  <a:srgbClr val="FFFFFF"/>
                </a:solidFill>
                <a:latin typeface="Montserrat"/>
              </a:rPr>
              <a:t>IA · RGPD · IA Act</a:t>
            </a:r>
          </a:p>
        </p:txBody>
      </p:sp>
      <p:sp>
        <p:nvSpPr>
          <p:cNvPr id="13" name="!!jalon3"/>
          <p:cNvSpPr/>
          <p:nvPr/>
        </p:nvSpPr>
        <p:spPr>
          <a:xfrm>
            <a:off x="9821913" y="3369564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ate3"/>
          <p:cNvSpPr txBox="1"/>
          <p:nvPr/>
        </p:nvSpPr>
        <p:spPr>
          <a:xfrm>
            <a:off x="8823731" y="2331720"/>
            <a:ext cx="2453563" cy="868680"/>
          </a:xfrm>
          <a:prstGeom prst="rect">
            <a:avLst/>
          </a:prstGeom>
          <a:noFill/>
        </p:spPr>
        <p:txBody>
          <a:bodyPr wrap="square" anchor="b" lIns="45720" rIns="45720">
            <a:noAutofit/>
          </a:bodyPr>
          <a:lstStyle/>
          <a:p>
            <a:pPr algn="ctr">
              <a:lnSpc>
                <a:spcPct val="100000"/>
              </a:lnSpc>
            </a:pPr>
            <a:r>
              <a:rPr sz="3600" lang="fr-FR">
                <a:solidFill>
                  <a:srgbClr val="C9A84C"/>
                </a:solidFill>
                <a:latin typeface="Montserrat ExtraBold"/>
              </a:rPr>
              <a:t>Ce soir</a:t>
            </a:r>
          </a:p>
        </p:txBody>
      </p:sp>
      <p:sp>
        <p:nvSpPr>
          <p:cNvPr id="15" name="etape3"/>
          <p:cNvSpPr txBox="1"/>
          <p:nvPr/>
        </p:nvSpPr>
        <p:spPr>
          <a:xfrm>
            <a:off x="8823731" y="4069080"/>
            <a:ext cx="2453563" cy="17373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lang="fr-FR">
                <a:solidFill>
                  <a:srgbClr val="FFFFFF"/>
                </a:solidFill>
                <a:latin typeface="Montserrat"/>
              </a:rPr>
              <a:t>Nouvelle équipe</a:t>
            </a:r>
          </a:p>
        </p:txBody>
      </p:sp>
      <p:pic>
        <p:nvPicPr>
          <p:cNvPr id="16" name="!!logo" descr="Emblème YEBA FORMATIONS : trois pitons reliés en résea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6236208"/>
            <a:ext cx="868680" cy="406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titre"/>
          <p:cNvSpPr>
            <a:spLocks noGrp="1"/>
          </p:cNvSpPr>
          <p:nvPr>
            <p:ph type="title"/>
          </p:nvPr>
        </p:nvSpPr>
        <p:spPr>
          <a:xfrm>
            <a:off x="731520" y="411480"/>
            <a:ext cx="7315200" cy="731520"/>
          </a:xfrm>
        </p:spPr>
        <p:txBody>
          <a:bodyPr wrap="square" anchor="t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lang="fr-FR">
                <a:solidFill>
                  <a:srgbClr val="FFFFFF"/>
                </a:solidFill>
                <a:latin typeface="Montserrat ExtraBold"/>
              </a:rPr>
              <a:t>Le fil de la soirée</a:t>
            </a:r>
          </a:p>
        </p:txBody>
      </p:sp>
      <p:sp>
        <p:nvSpPr>
          <p:cNvPr id="3" name="!!agn0"/>
          <p:cNvSpPr txBox="1"/>
          <p:nvPr/>
        </p:nvSpPr>
        <p:spPr>
          <a:xfrm>
            <a:off x="1051560" y="1325880"/>
            <a:ext cx="82296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 ExtraBold"/>
              </a:rPr>
              <a:t>01</a:t>
            </a:r>
          </a:p>
        </p:txBody>
      </p:sp>
      <p:sp>
        <p:nvSpPr>
          <p:cNvPr id="4" name="!!ag0"/>
          <p:cNvSpPr txBox="1"/>
          <p:nvPr/>
        </p:nvSpPr>
        <p:spPr>
          <a:xfrm>
            <a:off x="1920240" y="1325880"/>
            <a:ext cx="576072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"/>
              </a:rPr>
              <a:t>Présentation</a:t>
            </a:r>
          </a:p>
        </p:txBody>
      </p:sp>
      <p:sp>
        <p:nvSpPr>
          <p:cNvPr id="5" name="!!agn1"/>
          <p:cNvSpPr txBox="1"/>
          <p:nvPr/>
        </p:nvSpPr>
        <p:spPr>
          <a:xfrm>
            <a:off x="1051560" y="2057400"/>
            <a:ext cx="82296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 ExtraBold"/>
              </a:rPr>
              <a:t>02</a:t>
            </a:r>
          </a:p>
        </p:txBody>
      </p:sp>
      <p:sp>
        <p:nvSpPr>
          <p:cNvPr id="6" name="!!ag1"/>
          <p:cNvSpPr txBox="1"/>
          <p:nvPr/>
        </p:nvSpPr>
        <p:spPr>
          <a:xfrm>
            <a:off x="1920240" y="2057400"/>
            <a:ext cx="576072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"/>
              </a:rPr>
              <a:t>Histoire</a:t>
            </a:r>
          </a:p>
        </p:txBody>
      </p:sp>
      <p:sp>
        <p:nvSpPr>
          <p:cNvPr id="7" name="!!agn2"/>
          <p:cNvSpPr txBox="1"/>
          <p:nvPr/>
        </p:nvSpPr>
        <p:spPr>
          <a:xfrm>
            <a:off x="1051560" y="2788920"/>
            <a:ext cx="82296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C9A84C"/>
                </a:solidFill>
                <a:latin typeface="Montserrat ExtraBold"/>
              </a:rPr>
              <a:t>03</a:t>
            </a:r>
          </a:p>
        </p:txBody>
      </p:sp>
      <p:sp>
        <p:nvSpPr>
          <p:cNvPr id="8" name="!!ag2"/>
          <p:cNvSpPr txBox="1"/>
          <p:nvPr/>
        </p:nvSpPr>
        <p:spPr>
          <a:xfrm>
            <a:off x="1920240" y="2788920"/>
            <a:ext cx="576072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lang="fr-FR">
                <a:solidFill>
                  <a:srgbClr val="FFFFFF"/>
                </a:solidFill>
                <a:latin typeface="Montserrat ExtraBold"/>
              </a:rPr>
              <a:t>L'offre YEBA</a:t>
            </a:r>
          </a:p>
        </p:txBody>
      </p:sp>
      <p:sp>
        <p:nvSpPr>
          <p:cNvPr id="9" name="!!agn3"/>
          <p:cNvSpPr txBox="1"/>
          <p:nvPr/>
        </p:nvSpPr>
        <p:spPr>
          <a:xfrm>
            <a:off x="1051560" y="3520440"/>
            <a:ext cx="82296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 ExtraBold"/>
              </a:rPr>
              <a:t>04</a:t>
            </a:r>
          </a:p>
        </p:txBody>
      </p:sp>
      <p:sp>
        <p:nvSpPr>
          <p:cNvPr id="10" name="!!ag3"/>
          <p:cNvSpPr txBox="1"/>
          <p:nvPr/>
        </p:nvSpPr>
        <p:spPr>
          <a:xfrm>
            <a:off x="1920240" y="3520440"/>
            <a:ext cx="576072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"/>
              </a:rPr>
              <a:t>Nos formations</a:t>
            </a:r>
          </a:p>
        </p:txBody>
      </p:sp>
      <p:sp>
        <p:nvSpPr>
          <p:cNvPr id="11" name="!!agn4"/>
          <p:cNvSpPr txBox="1"/>
          <p:nvPr/>
        </p:nvSpPr>
        <p:spPr>
          <a:xfrm>
            <a:off x="1051560" y="4251960"/>
            <a:ext cx="82296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 ExtraBold"/>
              </a:rPr>
              <a:t>05</a:t>
            </a:r>
          </a:p>
        </p:txBody>
      </p:sp>
      <p:sp>
        <p:nvSpPr>
          <p:cNvPr id="12" name="!!ag4"/>
          <p:cNvSpPr txBox="1"/>
          <p:nvPr/>
        </p:nvSpPr>
        <p:spPr>
          <a:xfrm>
            <a:off x="1920240" y="4251960"/>
            <a:ext cx="576072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"/>
              </a:rPr>
              <a:t>Applications &amp; sites web</a:t>
            </a:r>
          </a:p>
        </p:txBody>
      </p:sp>
      <p:sp>
        <p:nvSpPr>
          <p:cNvPr id="13" name="!!agn5"/>
          <p:cNvSpPr txBox="1"/>
          <p:nvPr/>
        </p:nvSpPr>
        <p:spPr>
          <a:xfrm>
            <a:off x="1051560" y="4983480"/>
            <a:ext cx="82296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 ExtraBold"/>
              </a:rPr>
              <a:t>06</a:t>
            </a:r>
          </a:p>
        </p:txBody>
      </p:sp>
      <p:sp>
        <p:nvSpPr>
          <p:cNvPr id="14" name="!!ag5"/>
          <p:cNvSpPr txBox="1"/>
          <p:nvPr/>
        </p:nvSpPr>
        <p:spPr>
          <a:xfrm>
            <a:off x="1920240" y="4983480"/>
            <a:ext cx="576072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"/>
              </a:rPr>
              <a:t>Audit &amp; devis</a:t>
            </a:r>
          </a:p>
        </p:txBody>
      </p:sp>
      <p:sp>
        <p:nvSpPr>
          <p:cNvPr id="15" name="!!agn6"/>
          <p:cNvSpPr txBox="1"/>
          <p:nvPr/>
        </p:nvSpPr>
        <p:spPr>
          <a:xfrm>
            <a:off x="1051560" y="5715000"/>
            <a:ext cx="82296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 ExtraBold"/>
              </a:rPr>
              <a:t>07</a:t>
            </a:r>
          </a:p>
        </p:txBody>
      </p:sp>
      <p:sp>
        <p:nvSpPr>
          <p:cNvPr id="16" name="!!ag6"/>
          <p:cNvSpPr txBox="1"/>
          <p:nvPr/>
        </p:nvSpPr>
        <p:spPr>
          <a:xfrm>
            <a:off x="1920240" y="5715000"/>
            <a:ext cx="576072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"/>
              </a:rPr>
              <a:t>Mot de fin — offre soirée</a:t>
            </a:r>
          </a:p>
        </p:txBody>
      </p:sp>
      <p:sp>
        <p:nvSpPr>
          <p:cNvPr id="17" name="!!marqueur"/>
          <p:cNvSpPr/>
          <p:nvPr/>
        </p:nvSpPr>
        <p:spPr>
          <a:xfrm>
            <a:off x="731520" y="2862072"/>
            <a:ext cx="128016" cy="4937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agbig"/>
          <p:cNvSpPr txBox="1"/>
          <p:nvPr/>
        </p:nvSpPr>
        <p:spPr>
          <a:xfrm>
            <a:off x="7223760" y="1280160"/>
            <a:ext cx="4663440" cy="38404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lnSpc>
                <a:spcPct val="100000"/>
              </a:lnSpc>
            </a:pPr>
            <a:r>
              <a:rPr sz="21000" lang="fr-FR">
                <a:solidFill>
                  <a:srgbClr val="C9A84C"/>
                </a:solidFill>
                <a:latin typeface="Montserrat Black"/>
              </a:rPr>
              <a:t>03</a:t>
            </a:r>
          </a:p>
        </p:txBody>
      </p:sp>
      <p:pic>
        <p:nvPicPr>
          <p:cNvPr id="19" name="!!logo" descr="Emblème YEBA FORMATIONS : trois pitons reliés en résea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6236208"/>
            <a:ext cx="868680" cy="406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titre"/>
          <p:cNvSpPr>
            <a:spLocks noGrp="1"/>
          </p:cNvSpPr>
          <p:nvPr>
            <p:ph type="title"/>
          </p:nvPr>
        </p:nvSpPr>
        <p:spPr>
          <a:xfrm>
            <a:off x="868680" y="1691640"/>
            <a:ext cx="9875520" cy="4023360"/>
          </a:xfrm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5000"/>
              </a:lnSpc>
            </a:pPr>
            <a:r>
              <a:rPr sz="6400" lang="fr-FR">
                <a:solidFill>
                  <a:srgbClr val="FFFFFF"/>
                </a:solidFill>
                <a:latin typeface="Montserrat ExtraBold"/>
              </a:rPr>
              <a:t>Vos équipes utilisent déjà l'IA.</a:t>
            </a:r>
          </a:p>
          <a:p>
            <a:pPr algn="l">
              <a:lnSpc>
                <a:spcPct val="105000"/>
              </a:lnSpc>
            </a:pPr>
            <a:r>
              <a:rPr sz="6400" lang="fr-FR">
                <a:solidFill>
                  <a:srgbClr val="C9A84C"/>
                </a:solidFill>
                <a:latin typeface="Montserrat ExtraBold"/>
              </a:rPr>
              <a:t>Avec quelles données ?</a:t>
            </a:r>
          </a:p>
        </p:txBody>
      </p:sp>
      <p:sp>
        <p:nvSpPr>
          <p:cNvPr id="3" name="!!barre"/>
          <p:cNvSpPr/>
          <p:nvPr/>
        </p:nvSpPr>
        <p:spPr>
          <a:xfrm>
            <a:off x="411480" y="1600200"/>
            <a:ext cx="128016" cy="39319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868680" y="1097280"/>
            <a:ext cx="7315200" cy="5029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lang="fr-FR" spc="600">
                <a:solidFill>
                  <a:srgbClr val="C9A84C"/>
                </a:solidFill>
                <a:latin typeface="Montserrat ExtraBold"/>
              </a:rPr>
              <a:t>QUESTION</a:t>
            </a:r>
          </a:p>
        </p:txBody>
      </p:sp>
      <p:pic>
        <p:nvPicPr>
          <p:cNvPr id="5" name="!!logo" descr="Emblème YEBA FORMATIONS : trois pitons reliés en résea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6236208"/>
            <a:ext cx="868680" cy="406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titre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728655" cy="914400"/>
          </a:xfrm>
        </p:spPr>
        <p:txBody>
          <a:bodyPr wrap="square" anchor="t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lang="fr-FR">
                <a:solidFill>
                  <a:srgbClr val="FFFFFF"/>
                </a:solidFill>
                <a:latin typeface="Montserrat ExtraBold"/>
              </a:rPr>
              <a:t>3 métiers. </a:t>
            </a:r>
            <a:r>
              <a:rPr sz="4800" lang="fr-FR">
                <a:solidFill>
                  <a:srgbClr val="C9A84C"/>
                </a:solidFill>
                <a:latin typeface="Montserrat ExtraBold"/>
              </a:rPr>
              <a:t>1 seul interlocuteur.</a:t>
            </a:r>
          </a:p>
        </p:txBody>
      </p:sp>
      <p:sp>
        <p:nvSpPr>
          <p:cNvPr id="3" name="!!filigrane0"/>
          <p:cNvSpPr txBox="1"/>
          <p:nvPr/>
        </p:nvSpPr>
        <p:spPr>
          <a:xfrm>
            <a:off x="609447" y="1645920"/>
            <a:ext cx="3383280" cy="16459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0" lang="fr-FR">
                <a:solidFill>
                  <a:srgbClr val="2A2A2A"/>
                </a:solidFill>
                <a:latin typeface="Montserrat Black"/>
              </a:rPr>
              <a:t>01</a:t>
            </a:r>
          </a:p>
        </p:txBody>
      </p:sp>
      <p:sp>
        <p:nvSpPr>
          <p:cNvPr id="4" name="!!pilier0"/>
          <p:cNvSpPr txBox="1"/>
          <p:nvPr/>
        </p:nvSpPr>
        <p:spPr>
          <a:xfrm>
            <a:off x="609447" y="3520440"/>
            <a:ext cx="3383280" cy="8686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lang="fr-FR">
                <a:solidFill>
                  <a:srgbClr val="FFFFFF"/>
                </a:solidFill>
                <a:latin typeface="Montserrat ExtraBold"/>
              </a:rPr>
              <a:t>Former</a:t>
            </a:r>
          </a:p>
        </p:txBody>
      </p:sp>
      <p:sp>
        <p:nvSpPr>
          <p:cNvPr id="5" name="!!trait0"/>
          <p:cNvSpPr/>
          <p:nvPr/>
        </p:nvSpPr>
        <p:spPr>
          <a:xfrm>
            <a:off x="655167" y="4526280"/>
            <a:ext cx="914400" cy="8229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tail0"/>
          <p:cNvSpPr txBox="1"/>
          <p:nvPr/>
        </p:nvSpPr>
        <p:spPr>
          <a:xfrm>
            <a:off x="609447" y="4754880"/>
            <a:ext cx="3383280" cy="12801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lang="fr-FR">
                <a:solidFill>
                  <a:srgbClr val="C9A84C"/>
                </a:solidFill>
                <a:latin typeface="Montserrat ExtraBold"/>
              </a:rPr>
              <a:t>Intra · Inter · Séminaires</a:t>
            </a:r>
          </a:p>
        </p:txBody>
      </p:sp>
      <p:sp>
        <p:nvSpPr>
          <p:cNvPr id="7" name="!!filigrane1"/>
          <p:cNvSpPr txBox="1"/>
          <p:nvPr/>
        </p:nvSpPr>
        <p:spPr>
          <a:xfrm>
            <a:off x="4404207" y="1645920"/>
            <a:ext cx="3383280" cy="16459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0" lang="fr-FR">
                <a:solidFill>
                  <a:srgbClr val="2A2A2A"/>
                </a:solidFill>
                <a:latin typeface="Montserrat Black"/>
              </a:rPr>
              <a:t>02</a:t>
            </a:r>
          </a:p>
        </p:txBody>
      </p:sp>
      <p:sp>
        <p:nvSpPr>
          <p:cNvPr id="8" name="!!pilier1"/>
          <p:cNvSpPr txBox="1"/>
          <p:nvPr/>
        </p:nvSpPr>
        <p:spPr>
          <a:xfrm>
            <a:off x="4404207" y="3520440"/>
            <a:ext cx="3383280" cy="8686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lang="fr-FR">
                <a:solidFill>
                  <a:srgbClr val="FFFFFF"/>
                </a:solidFill>
                <a:latin typeface="Montserrat ExtraBold"/>
              </a:rPr>
              <a:t>Implémenter</a:t>
            </a:r>
          </a:p>
        </p:txBody>
      </p:sp>
      <p:sp>
        <p:nvSpPr>
          <p:cNvPr id="9" name="!!trait1"/>
          <p:cNvSpPr/>
          <p:nvPr/>
        </p:nvSpPr>
        <p:spPr>
          <a:xfrm>
            <a:off x="4449927" y="4526280"/>
            <a:ext cx="914400" cy="8229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tail1"/>
          <p:cNvSpPr txBox="1"/>
          <p:nvPr/>
        </p:nvSpPr>
        <p:spPr>
          <a:xfrm>
            <a:off x="4404207" y="4754880"/>
            <a:ext cx="3383280" cy="12801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lang="fr-FR">
                <a:solidFill>
                  <a:srgbClr val="C9A84C"/>
                </a:solidFill>
                <a:latin typeface="Montserrat ExtraBold"/>
              </a:rPr>
              <a:t>Workflows · Sites · Applications</a:t>
            </a:r>
          </a:p>
        </p:txBody>
      </p:sp>
      <p:sp>
        <p:nvSpPr>
          <p:cNvPr id="11" name="!!filigrane2"/>
          <p:cNvSpPr txBox="1"/>
          <p:nvPr/>
        </p:nvSpPr>
        <p:spPr>
          <a:xfrm>
            <a:off x="8198967" y="1645920"/>
            <a:ext cx="3383280" cy="16459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0" lang="fr-FR">
                <a:solidFill>
                  <a:srgbClr val="2A2A2A"/>
                </a:solidFill>
                <a:latin typeface="Montserrat Black"/>
              </a:rPr>
              <a:t>03</a:t>
            </a:r>
          </a:p>
        </p:txBody>
      </p:sp>
      <p:sp>
        <p:nvSpPr>
          <p:cNvPr id="12" name="!!pilier2"/>
          <p:cNvSpPr txBox="1"/>
          <p:nvPr/>
        </p:nvSpPr>
        <p:spPr>
          <a:xfrm>
            <a:off x="8198967" y="3520440"/>
            <a:ext cx="3383280" cy="8686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lang="fr-FR">
                <a:solidFill>
                  <a:srgbClr val="FFFFFF"/>
                </a:solidFill>
                <a:latin typeface="Montserrat ExtraBold"/>
              </a:rPr>
              <a:t>Sécuriser</a:t>
            </a:r>
          </a:p>
        </p:txBody>
      </p:sp>
      <p:sp>
        <p:nvSpPr>
          <p:cNvPr id="13" name="!!trait2"/>
          <p:cNvSpPr/>
          <p:nvPr/>
        </p:nvSpPr>
        <p:spPr>
          <a:xfrm>
            <a:off x="8244687" y="4526280"/>
            <a:ext cx="914400" cy="8229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etail2"/>
          <p:cNvSpPr txBox="1"/>
          <p:nvPr/>
        </p:nvSpPr>
        <p:spPr>
          <a:xfrm>
            <a:off x="8198967" y="4754880"/>
            <a:ext cx="3383280" cy="12801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lang="fr-FR">
                <a:solidFill>
                  <a:srgbClr val="C9A84C"/>
                </a:solidFill>
                <a:latin typeface="Montserrat ExtraBold"/>
              </a:rPr>
              <a:t>RGPD · IA Act · Audit</a:t>
            </a:r>
          </a:p>
        </p:txBody>
      </p:sp>
      <p:pic>
        <p:nvPicPr>
          <p:cNvPr id="15" name="!!logo" descr="Emblème YEBA FORMATIONS : trois pitons reliés en résea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6236208"/>
            <a:ext cx="868680" cy="406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titre"/>
          <p:cNvSpPr>
            <a:spLocks noGrp="1"/>
          </p:cNvSpPr>
          <p:nvPr>
            <p:ph type="title"/>
          </p:nvPr>
        </p:nvSpPr>
        <p:spPr>
          <a:xfrm>
            <a:off x="365760" y="457200"/>
            <a:ext cx="6766560" cy="5486400"/>
          </a:xfrm>
        </p:spPr>
        <p:txBody>
          <a:bodyPr wrap="square" anchor="ctr" lIns="45720" rIns="45720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0" lang="fr-FR">
                <a:solidFill>
                  <a:srgbClr val="C9A84C"/>
                </a:solidFill>
                <a:latin typeface="Montserrat Black"/>
              </a:rPr>
              <a:t>8 h</a:t>
            </a:r>
          </a:p>
        </p:txBody>
      </p:sp>
      <p:sp>
        <p:nvSpPr>
          <p:cNvPr id="3" name="explication"/>
          <p:cNvSpPr txBox="1"/>
          <p:nvPr/>
        </p:nvSpPr>
        <p:spPr>
          <a:xfrm>
            <a:off x="7223760" y="1828800"/>
            <a:ext cx="4389120" cy="329184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lang="fr-FR">
                <a:solidFill>
                  <a:srgbClr val="FFFFFF"/>
                </a:solidFill>
                <a:latin typeface="Montserrat ExtraBold"/>
              </a:rPr>
              <a:t>par journée de formation.</a:t>
            </a:r>
          </a:p>
          <a:p>
            <a:pPr algn="l">
              <a:lnSpc>
                <a:spcPct val="100000"/>
              </a:lnSpc>
            </a:pPr>
            <a:r>
              <a:rPr sz="1800" lang="fr-FR">
                <a:solidFill>
                  <a:srgbClr val="FFFFFF"/>
                </a:solidFill>
                <a:latin typeface="Montserrat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3200" lang="fr-FR">
                <a:solidFill>
                  <a:srgbClr val="C9A84C"/>
                </a:solidFill>
                <a:latin typeface="Montserrat ExtraBold"/>
              </a:rPr>
              <a:t>Le standard du marché : 7 h.</a:t>
            </a:r>
          </a:p>
        </p:txBody>
      </p:sp>
      <p:pic>
        <p:nvPicPr>
          <p:cNvPr id="4" name="!!logo" descr="Emblème YEBA FORMATIONS : trois pitons reliés en résea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6236208"/>
            <a:ext cx="868680" cy="406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titre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728655" cy="914400"/>
          </a:xfrm>
        </p:spPr>
        <p:txBody>
          <a:bodyPr wrap="square" anchor="t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4200" lang="fr-FR">
                <a:solidFill>
                  <a:srgbClr val="FFFFFF"/>
                </a:solidFill>
                <a:latin typeface="Montserrat ExtraBold"/>
              </a:rPr>
              <a:t>Chez vous. Chez nous. </a:t>
            </a:r>
            <a:r>
              <a:rPr sz="4200" lang="fr-FR">
                <a:solidFill>
                  <a:srgbClr val="C9A84C"/>
                </a:solidFill>
                <a:latin typeface="Montserrat ExtraBold"/>
              </a:rPr>
              <a:t>Ou au vert.</a:t>
            </a:r>
          </a:p>
        </p:txBody>
      </p:sp>
      <p:sp>
        <p:nvSpPr>
          <p:cNvPr id="3" name="!!format-Intra"/>
          <p:cNvSpPr/>
          <p:nvPr/>
        </p:nvSpPr>
        <p:spPr>
          <a:xfrm>
            <a:off x="731520" y="1691640"/>
            <a:ext cx="4572000" cy="2011680"/>
          </a:xfrm>
          <a:prstGeom prst="roundRect">
            <a:avLst>
              <a:gd name="adj" fmla="val 8000"/>
            </a:avLst>
          </a:prstGeom>
          <a:solidFill>
            <a:srgbClr val="0E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45720">
            <a:noAutofit/>
          </a:bodyPr>
          <a:lstStyle/>
          <a:p>
            <a:pPr algn="l"/>
            <a:r>
              <a:rPr sz="4400" lang="fr-FR">
                <a:solidFill>
                  <a:srgbClr val="FFFFFF"/>
                </a:solidFill>
                <a:latin typeface="Montserrat ExtraBold"/>
              </a:rPr>
              <a:t>Intra</a:t>
            </a:r>
          </a:p>
          <a:p>
            <a:pPr algn="l"/>
            <a:r>
              <a:rPr sz="2600" lang="fr-FR">
                <a:solidFill>
                  <a:srgbClr val="C9A84C"/>
                </a:solidFill>
                <a:latin typeface="Montserrat ExtraBold"/>
              </a:rPr>
              <a:t>Dans vos locaux</a:t>
            </a:r>
          </a:p>
        </p:txBody>
      </p:sp>
      <p:sp>
        <p:nvSpPr>
          <p:cNvPr id="4" name="!!format-Séminaire"/>
          <p:cNvSpPr/>
          <p:nvPr/>
        </p:nvSpPr>
        <p:spPr>
          <a:xfrm>
            <a:off x="5577840" y="1691640"/>
            <a:ext cx="5882335" cy="2011680"/>
          </a:xfrm>
          <a:prstGeom prst="roundRect">
            <a:avLst>
              <a:gd name="adj" fmla="val 8000"/>
            </a:avLst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45720">
            <a:noAutofit/>
          </a:bodyPr>
          <a:lstStyle/>
          <a:p>
            <a:pPr algn="l"/>
            <a:r>
              <a:rPr sz="4400" lang="fr-FR">
                <a:solidFill>
                  <a:srgbClr val="121212"/>
                </a:solidFill>
                <a:latin typeface="Montserrat ExtraBold"/>
              </a:rPr>
              <a:t>Séminaire</a:t>
            </a:r>
          </a:p>
          <a:p>
            <a:pPr algn="l"/>
            <a:r>
              <a:rPr sz="2600" lang="fr-FR">
                <a:solidFill>
                  <a:srgbClr val="121212"/>
                </a:solidFill>
                <a:latin typeface="Montserrat ExtraBold"/>
              </a:rPr>
              <a:t>Dirigeants · Résidentiel</a:t>
            </a:r>
          </a:p>
        </p:txBody>
      </p:sp>
      <p:sp>
        <p:nvSpPr>
          <p:cNvPr id="5" name="!!format-Inter"/>
          <p:cNvSpPr/>
          <p:nvPr/>
        </p:nvSpPr>
        <p:spPr>
          <a:xfrm>
            <a:off x="731520" y="3931920"/>
            <a:ext cx="5882335" cy="2011680"/>
          </a:xfrm>
          <a:prstGeom prst="roundRect">
            <a:avLst>
              <a:gd name="adj" fmla="val 8000"/>
            </a:avLst>
          </a:prstGeom>
          <a:solidFill>
            <a:srgbClr val="0E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45720">
            <a:noAutofit/>
          </a:bodyPr>
          <a:lstStyle/>
          <a:p>
            <a:pPr algn="l"/>
            <a:r>
              <a:rPr sz="4400" lang="fr-FR">
                <a:solidFill>
                  <a:srgbClr val="FFFFFF"/>
                </a:solidFill>
                <a:latin typeface="Montserrat ExtraBold"/>
              </a:rPr>
              <a:t>Inter</a:t>
            </a:r>
          </a:p>
          <a:p>
            <a:pPr algn="l"/>
            <a:r>
              <a:rPr sz="2600" lang="fr-FR">
                <a:solidFill>
                  <a:srgbClr val="C9A84C"/>
                </a:solidFill>
                <a:latin typeface="Montserrat ExtraBold"/>
              </a:rPr>
              <a:t>Multi-entreprises</a:t>
            </a:r>
          </a:p>
        </p:txBody>
      </p:sp>
      <p:sp>
        <p:nvSpPr>
          <p:cNvPr id="6" name="!!format-Sur-mesure"/>
          <p:cNvSpPr/>
          <p:nvPr/>
        </p:nvSpPr>
        <p:spPr>
          <a:xfrm>
            <a:off x="6888175" y="3931920"/>
            <a:ext cx="4572000" cy="2011680"/>
          </a:xfrm>
          <a:prstGeom prst="roundRect">
            <a:avLst>
              <a:gd name="adj" fmla="val 8000"/>
            </a:avLst>
          </a:prstGeom>
          <a:solidFill>
            <a:srgbClr val="0E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45720">
            <a:noAutofit/>
          </a:bodyPr>
          <a:lstStyle/>
          <a:p>
            <a:pPr algn="l"/>
            <a:r>
              <a:rPr sz="4400" lang="fr-FR">
                <a:solidFill>
                  <a:srgbClr val="FFFFFF"/>
                </a:solidFill>
                <a:latin typeface="Montserrat ExtraBold"/>
              </a:rPr>
              <a:t>Sur-mesure</a:t>
            </a:r>
          </a:p>
          <a:p>
            <a:pPr algn="l"/>
            <a:r>
              <a:rPr sz="2600" lang="fr-FR">
                <a:solidFill>
                  <a:srgbClr val="C9A84C"/>
                </a:solidFill>
                <a:latin typeface="Montserrat ExtraBold"/>
              </a:rPr>
              <a:t>Votre besoin</a:t>
            </a:r>
          </a:p>
        </p:txBody>
      </p:sp>
      <p:pic>
        <p:nvPicPr>
          <p:cNvPr id="7" name="!!logo" descr="Emblème YEBA FORMATIONS : trois pitons reliés en résea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6236208"/>
            <a:ext cx="868680" cy="406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titre"/>
          <p:cNvSpPr>
            <a:spLocks noGrp="1"/>
          </p:cNvSpPr>
          <p:nvPr>
            <p:ph type="title"/>
          </p:nvPr>
        </p:nvSpPr>
        <p:spPr>
          <a:xfrm>
            <a:off x="868680" y="1691640"/>
            <a:ext cx="8595360" cy="4023360"/>
          </a:xfrm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5000"/>
              </a:lnSpc>
            </a:pPr>
            <a:r>
              <a:rPr sz="6400" lang="fr-FR">
                <a:solidFill>
                  <a:srgbClr val="FFFFFF"/>
                </a:solidFill>
                <a:latin typeface="Montserrat ExtraBold"/>
              </a:rPr>
              <a:t>Souveraineté par défaut.</a:t>
            </a:r>
          </a:p>
          <a:p>
            <a:pPr algn="l">
              <a:lnSpc>
                <a:spcPct val="105000"/>
              </a:lnSpc>
            </a:pPr>
            <a:r>
              <a:rPr sz="6400" lang="fr-FR">
                <a:solidFill>
                  <a:srgbClr val="C9A84C"/>
                </a:solidFill>
                <a:latin typeface="Montserrat ExtraBold"/>
              </a:rPr>
              <a:t>Outils européens d'abord.</a:t>
            </a:r>
          </a:p>
        </p:txBody>
      </p:sp>
      <p:pic>
        <p:nvPicPr>
          <p:cNvPr id="3" name="illustration" descr="Cercle de douze points dorés évoquant le drapeau europé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640080"/>
            <a:ext cx="2011680" cy="2011680"/>
          </a:xfrm>
          <a:prstGeom prst="rect">
            <a:avLst/>
          </a:prstGeom>
        </p:spPr>
      </p:pic>
      <p:sp>
        <p:nvSpPr>
          <p:cNvPr id="4" name="!!barre"/>
          <p:cNvSpPr/>
          <p:nvPr/>
        </p:nvSpPr>
        <p:spPr>
          <a:xfrm>
            <a:off x="411480" y="1600200"/>
            <a:ext cx="128016" cy="39319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kicker"/>
          <p:cNvSpPr txBox="1"/>
          <p:nvPr/>
        </p:nvSpPr>
        <p:spPr>
          <a:xfrm>
            <a:off x="868680" y="1097280"/>
            <a:ext cx="7315200" cy="5029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lang="fr-FR" spc="600">
                <a:solidFill>
                  <a:srgbClr val="C9A84C"/>
                </a:solidFill>
                <a:latin typeface="Montserrat ExtraBold"/>
              </a:rPr>
              <a:t>NOTRE LIGNE</a:t>
            </a:r>
          </a:p>
        </p:txBody>
      </p:sp>
      <p:pic>
        <p:nvPicPr>
          <p:cNvPr id="6" name="!!logo" descr="Emblème YEBA FORMATIONS : trois pitons reliés en réseau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255" y="6236208"/>
            <a:ext cx="868680" cy="406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titre"/>
          <p:cNvSpPr>
            <a:spLocks noGrp="1"/>
          </p:cNvSpPr>
          <p:nvPr>
            <p:ph type="title"/>
          </p:nvPr>
        </p:nvSpPr>
        <p:spPr>
          <a:xfrm>
            <a:off x="868680" y="1691640"/>
            <a:ext cx="9875520" cy="4023360"/>
          </a:xfrm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5000"/>
              </a:lnSpc>
            </a:pPr>
            <a:r>
              <a:rPr sz="6400" lang="fr-FR">
                <a:solidFill>
                  <a:srgbClr val="FFFFFF"/>
                </a:solidFill>
                <a:latin typeface="Montserrat ExtraBold"/>
              </a:rPr>
              <a:t>Nous ne vendons pas la conformité.</a:t>
            </a:r>
          </a:p>
          <a:p>
            <a:pPr algn="l">
              <a:lnSpc>
                <a:spcPct val="105000"/>
              </a:lnSpc>
            </a:pPr>
            <a:r>
              <a:rPr sz="6400" lang="fr-FR">
                <a:solidFill>
                  <a:srgbClr val="C9A84C"/>
                </a:solidFill>
                <a:latin typeface="Montserrat ExtraBold"/>
              </a:rPr>
              <a:t>Nous vous aidons à la prouver.</a:t>
            </a:r>
          </a:p>
        </p:txBody>
      </p:sp>
      <p:sp>
        <p:nvSpPr>
          <p:cNvPr id="3" name="!!barre"/>
          <p:cNvSpPr/>
          <p:nvPr/>
        </p:nvSpPr>
        <p:spPr>
          <a:xfrm>
            <a:off x="411480" y="1600200"/>
            <a:ext cx="128016" cy="39319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868680" y="1097280"/>
            <a:ext cx="7315200" cy="5029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lang="fr-FR" spc="600">
                <a:solidFill>
                  <a:srgbClr val="C9A84C"/>
                </a:solidFill>
                <a:latin typeface="Montserrat ExtraBold"/>
              </a:rPr>
              <a:t>NOTRE PROMESSE</a:t>
            </a:r>
          </a:p>
        </p:txBody>
      </p:sp>
      <p:pic>
        <p:nvPicPr>
          <p:cNvPr id="5" name="!!logo" descr="Emblème YEBA FORMATIONS : trois pitons reliés en résea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6236208"/>
            <a:ext cx="868680" cy="406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titre"/>
          <p:cNvSpPr>
            <a:spLocks noGrp="1"/>
          </p:cNvSpPr>
          <p:nvPr>
            <p:ph type="title"/>
          </p:nvPr>
        </p:nvSpPr>
        <p:spPr>
          <a:xfrm>
            <a:off x="731520" y="411480"/>
            <a:ext cx="7315200" cy="731520"/>
          </a:xfrm>
        </p:spPr>
        <p:txBody>
          <a:bodyPr wrap="square" anchor="t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lang="fr-FR">
                <a:solidFill>
                  <a:srgbClr val="FFFFFF"/>
                </a:solidFill>
                <a:latin typeface="Montserrat ExtraBold"/>
              </a:rPr>
              <a:t>Le fil de la soirée</a:t>
            </a:r>
          </a:p>
        </p:txBody>
      </p:sp>
      <p:sp>
        <p:nvSpPr>
          <p:cNvPr id="3" name="!!agn0"/>
          <p:cNvSpPr txBox="1"/>
          <p:nvPr/>
        </p:nvSpPr>
        <p:spPr>
          <a:xfrm>
            <a:off x="1051560" y="1325880"/>
            <a:ext cx="82296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 ExtraBold"/>
              </a:rPr>
              <a:t>01</a:t>
            </a:r>
          </a:p>
        </p:txBody>
      </p:sp>
      <p:sp>
        <p:nvSpPr>
          <p:cNvPr id="4" name="!!ag0"/>
          <p:cNvSpPr txBox="1"/>
          <p:nvPr/>
        </p:nvSpPr>
        <p:spPr>
          <a:xfrm>
            <a:off x="1920240" y="1325880"/>
            <a:ext cx="576072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"/>
              </a:rPr>
              <a:t>Présentation</a:t>
            </a:r>
          </a:p>
        </p:txBody>
      </p:sp>
      <p:sp>
        <p:nvSpPr>
          <p:cNvPr id="5" name="!!agn1"/>
          <p:cNvSpPr txBox="1"/>
          <p:nvPr/>
        </p:nvSpPr>
        <p:spPr>
          <a:xfrm>
            <a:off x="1051560" y="2057400"/>
            <a:ext cx="82296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 ExtraBold"/>
              </a:rPr>
              <a:t>02</a:t>
            </a:r>
          </a:p>
        </p:txBody>
      </p:sp>
      <p:sp>
        <p:nvSpPr>
          <p:cNvPr id="6" name="!!ag1"/>
          <p:cNvSpPr txBox="1"/>
          <p:nvPr/>
        </p:nvSpPr>
        <p:spPr>
          <a:xfrm>
            <a:off x="1920240" y="2057400"/>
            <a:ext cx="576072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"/>
              </a:rPr>
              <a:t>Histoire</a:t>
            </a:r>
          </a:p>
        </p:txBody>
      </p:sp>
      <p:sp>
        <p:nvSpPr>
          <p:cNvPr id="7" name="!!agn2"/>
          <p:cNvSpPr txBox="1"/>
          <p:nvPr/>
        </p:nvSpPr>
        <p:spPr>
          <a:xfrm>
            <a:off x="1051560" y="2788920"/>
            <a:ext cx="82296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 ExtraBold"/>
              </a:rPr>
              <a:t>03</a:t>
            </a:r>
          </a:p>
        </p:txBody>
      </p:sp>
      <p:sp>
        <p:nvSpPr>
          <p:cNvPr id="8" name="!!ag2"/>
          <p:cNvSpPr txBox="1"/>
          <p:nvPr/>
        </p:nvSpPr>
        <p:spPr>
          <a:xfrm>
            <a:off x="1920240" y="2788920"/>
            <a:ext cx="576072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"/>
              </a:rPr>
              <a:t>L'offre YEBA</a:t>
            </a:r>
          </a:p>
        </p:txBody>
      </p:sp>
      <p:sp>
        <p:nvSpPr>
          <p:cNvPr id="9" name="!!agn3"/>
          <p:cNvSpPr txBox="1"/>
          <p:nvPr/>
        </p:nvSpPr>
        <p:spPr>
          <a:xfrm>
            <a:off x="1051560" y="3520440"/>
            <a:ext cx="82296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C9A84C"/>
                </a:solidFill>
                <a:latin typeface="Montserrat ExtraBold"/>
              </a:rPr>
              <a:t>04</a:t>
            </a:r>
          </a:p>
        </p:txBody>
      </p:sp>
      <p:sp>
        <p:nvSpPr>
          <p:cNvPr id="10" name="!!ag3"/>
          <p:cNvSpPr txBox="1"/>
          <p:nvPr/>
        </p:nvSpPr>
        <p:spPr>
          <a:xfrm>
            <a:off x="1920240" y="3520440"/>
            <a:ext cx="576072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lang="fr-FR">
                <a:solidFill>
                  <a:srgbClr val="FFFFFF"/>
                </a:solidFill>
                <a:latin typeface="Montserrat ExtraBold"/>
              </a:rPr>
              <a:t>Nos formations</a:t>
            </a:r>
          </a:p>
        </p:txBody>
      </p:sp>
      <p:sp>
        <p:nvSpPr>
          <p:cNvPr id="11" name="!!agn4"/>
          <p:cNvSpPr txBox="1"/>
          <p:nvPr/>
        </p:nvSpPr>
        <p:spPr>
          <a:xfrm>
            <a:off x="1051560" y="4251960"/>
            <a:ext cx="82296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 ExtraBold"/>
              </a:rPr>
              <a:t>05</a:t>
            </a:r>
          </a:p>
        </p:txBody>
      </p:sp>
      <p:sp>
        <p:nvSpPr>
          <p:cNvPr id="12" name="!!ag4"/>
          <p:cNvSpPr txBox="1"/>
          <p:nvPr/>
        </p:nvSpPr>
        <p:spPr>
          <a:xfrm>
            <a:off x="1920240" y="4251960"/>
            <a:ext cx="576072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"/>
              </a:rPr>
              <a:t>Applications &amp; sites web</a:t>
            </a:r>
          </a:p>
        </p:txBody>
      </p:sp>
      <p:sp>
        <p:nvSpPr>
          <p:cNvPr id="13" name="!!agn5"/>
          <p:cNvSpPr txBox="1"/>
          <p:nvPr/>
        </p:nvSpPr>
        <p:spPr>
          <a:xfrm>
            <a:off x="1051560" y="4983480"/>
            <a:ext cx="82296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 ExtraBold"/>
              </a:rPr>
              <a:t>06</a:t>
            </a:r>
          </a:p>
        </p:txBody>
      </p:sp>
      <p:sp>
        <p:nvSpPr>
          <p:cNvPr id="14" name="!!ag5"/>
          <p:cNvSpPr txBox="1"/>
          <p:nvPr/>
        </p:nvSpPr>
        <p:spPr>
          <a:xfrm>
            <a:off x="1920240" y="4983480"/>
            <a:ext cx="576072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"/>
              </a:rPr>
              <a:t>Audit &amp; devis</a:t>
            </a:r>
          </a:p>
        </p:txBody>
      </p:sp>
      <p:sp>
        <p:nvSpPr>
          <p:cNvPr id="15" name="!!agn6"/>
          <p:cNvSpPr txBox="1"/>
          <p:nvPr/>
        </p:nvSpPr>
        <p:spPr>
          <a:xfrm>
            <a:off x="1051560" y="5715000"/>
            <a:ext cx="82296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 ExtraBold"/>
              </a:rPr>
              <a:t>07</a:t>
            </a:r>
          </a:p>
        </p:txBody>
      </p:sp>
      <p:sp>
        <p:nvSpPr>
          <p:cNvPr id="16" name="!!ag6"/>
          <p:cNvSpPr txBox="1"/>
          <p:nvPr/>
        </p:nvSpPr>
        <p:spPr>
          <a:xfrm>
            <a:off x="1920240" y="5715000"/>
            <a:ext cx="576072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"/>
              </a:rPr>
              <a:t>Mot de fin — offre soirée</a:t>
            </a:r>
          </a:p>
        </p:txBody>
      </p:sp>
      <p:sp>
        <p:nvSpPr>
          <p:cNvPr id="17" name="!!marqueur"/>
          <p:cNvSpPr/>
          <p:nvPr/>
        </p:nvSpPr>
        <p:spPr>
          <a:xfrm>
            <a:off x="731520" y="3593592"/>
            <a:ext cx="128016" cy="4937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agbig"/>
          <p:cNvSpPr txBox="1"/>
          <p:nvPr/>
        </p:nvSpPr>
        <p:spPr>
          <a:xfrm>
            <a:off x="7223760" y="1280160"/>
            <a:ext cx="4663440" cy="38404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lnSpc>
                <a:spcPct val="100000"/>
              </a:lnSpc>
            </a:pPr>
            <a:r>
              <a:rPr sz="21000" lang="fr-FR">
                <a:solidFill>
                  <a:srgbClr val="C9A84C"/>
                </a:solidFill>
                <a:latin typeface="Montserrat Black"/>
              </a:rPr>
              <a:t>04</a:t>
            </a:r>
          </a:p>
        </p:txBody>
      </p:sp>
      <p:pic>
        <p:nvPicPr>
          <p:cNvPr id="19" name="!!logo" descr="Emblème YEBA FORMATIONS : trois pitons reliés en résea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6236208"/>
            <a:ext cx="868680" cy="406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1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titre"/>
          <p:cNvSpPr>
            <a:spLocks noGrp="1"/>
          </p:cNvSpPr>
          <p:nvPr>
            <p:ph type="title"/>
          </p:nvPr>
        </p:nvSpPr>
        <p:spPr>
          <a:xfrm>
            <a:off x="868680" y="1691640"/>
            <a:ext cx="6949440" cy="4023360"/>
          </a:xfrm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5000"/>
              </a:lnSpc>
            </a:pPr>
            <a:r>
              <a:rPr sz="5400" lang="fr-FR">
                <a:solidFill>
                  <a:srgbClr val="FFFFFF"/>
                </a:solidFill>
                <a:latin typeface="Montserrat ExtraBold"/>
              </a:rPr>
              <a:t>Votre entreprise est un moteur.</a:t>
            </a:r>
          </a:p>
          <a:p>
            <a:pPr algn="l">
              <a:lnSpc>
                <a:spcPct val="105000"/>
              </a:lnSpc>
            </a:pPr>
            <a:r>
              <a:rPr sz="5400" lang="fr-FR">
                <a:solidFill>
                  <a:srgbClr val="C9A84C"/>
                </a:solidFill>
                <a:latin typeface="Montserrat ExtraBold"/>
              </a:rPr>
              <a:t>Nos formations en sont les pièces.</a:t>
            </a:r>
          </a:p>
        </p:txBody>
      </p:sp>
      <p:pic>
        <p:nvPicPr>
          <p:cNvPr id="3" name="illustration" descr="Compte-tours doré, aiguille dans la zone hau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188720"/>
            <a:ext cx="4023360" cy="4023360"/>
          </a:xfrm>
          <a:prstGeom prst="rect">
            <a:avLst/>
          </a:prstGeom>
        </p:spPr>
      </p:pic>
      <p:sp>
        <p:nvSpPr>
          <p:cNvPr id="4" name="!!barre"/>
          <p:cNvSpPr/>
          <p:nvPr/>
        </p:nvSpPr>
        <p:spPr>
          <a:xfrm>
            <a:off x="411480" y="1600200"/>
            <a:ext cx="128016" cy="39319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kicker"/>
          <p:cNvSpPr txBox="1"/>
          <p:nvPr/>
        </p:nvSpPr>
        <p:spPr>
          <a:xfrm>
            <a:off x="868680" y="1097280"/>
            <a:ext cx="7315200" cy="5029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lang="fr-FR" spc="600">
                <a:solidFill>
                  <a:srgbClr val="C9A84C"/>
                </a:solidFill>
                <a:latin typeface="Montserrat ExtraBold"/>
              </a:rPr>
              <a:t>L'IMAGE À RETENIR</a:t>
            </a:r>
          </a:p>
        </p:txBody>
      </p:sp>
      <p:pic>
        <p:nvPicPr>
          <p:cNvPr id="6" name="!!logo" descr="Emblème YEBA FORMATIONS : trois pitons reliés en réseau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255" y="6236208"/>
            <a:ext cx="868680" cy="406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titre"/>
          <p:cNvSpPr>
            <a:spLocks noGrp="1"/>
          </p:cNvSpPr>
          <p:nvPr>
            <p:ph type="title"/>
          </p:nvPr>
        </p:nvSpPr>
        <p:spPr>
          <a:xfrm>
            <a:off x="731520" y="320040"/>
            <a:ext cx="7315200" cy="822960"/>
          </a:xfrm>
        </p:spPr>
        <p:txBody>
          <a:bodyPr wrap="square" anchor="t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lang="fr-FR">
                <a:solidFill>
                  <a:srgbClr val="FFFFFF"/>
                </a:solidFill>
                <a:latin typeface="Montserrat ExtraBold"/>
              </a:rPr>
              <a:t>Le garage YEBA</a:t>
            </a:r>
          </a:p>
        </p:txBody>
      </p:sp>
      <p:sp>
        <p:nvSpPr>
          <p:cNvPr id="3" name="!!tuile-ALLUMAGE-TURBO"/>
          <p:cNvSpPr/>
          <p:nvPr/>
        </p:nvSpPr>
        <p:spPr>
          <a:xfrm>
            <a:off x="646023" y="1325880"/>
            <a:ext cx="2560320" cy="1188720"/>
          </a:xfrm>
          <a:prstGeom prst="rect">
            <a:avLst/>
          </a:prstGeom>
          <a:solidFill>
            <a:srgbClr val="1C1C1C"/>
          </a:solidFill>
          <a:ln w="317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code-ALLUMAGE-TURBO"/>
          <p:cNvSpPr txBox="1"/>
          <p:nvPr/>
        </p:nvSpPr>
        <p:spPr>
          <a:xfrm>
            <a:off x="737463" y="1325880"/>
            <a:ext cx="2377439" cy="11887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lang="fr-FR">
                <a:solidFill>
                  <a:srgbClr val="FFFFFF"/>
                </a:solidFill>
                <a:latin typeface="Montserrat ExtraBold"/>
              </a:rPr>
              <a:t>ALLUMAGE-TURBO</a:t>
            </a:r>
          </a:p>
        </p:txBody>
      </p:sp>
      <p:sp>
        <p:nvSpPr>
          <p:cNvPr id="5" name="!!tuile-PILOTE AUTOMATIQUE"/>
          <p:cNvSpPr/>
          <p:nvPr/>
        </p:nvSpPr>
        <p:spPr>
          <a:xfrm>
            <a:off x="3425799" y="1325880"/>
            <a:ext cx="2560320" cy="1188720"/>
          </a:xfrm>
          <a:prstGeom prst="rect">
            <a:avLst/>
          </a:prstGeom>
          <a:solidFill>
            <a:srgbClr val="1C1C1C"/>
          </a:solidFill>
          <a:ln w="317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code-PILOTE AUTOMATIQUE"/>
          <p:cNvSpPr txBox="1"/>
          <p:nvPr/>
        </p:nvSpPr>
        <p:spPr>
          <a:xfrm>
            <a:off x="3517239" y="1325880"/>
            <a:ext cx="2377439" cy="11887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lang="fr-FR">
                <a:solidFill>
                  <a:srgbClr val="FFFFFF"/>
                </a:solidFill>
                <a:latin typeface="Montserrat ExtraBold"/>
              </a:rPr>
              <a:t>PILOTE AUTOMATIQUE</a:t>
            </a:r>
          </a:p>
        </p:txBody>
      </p:sp>
      <p:sp>
        <p:nvSpPr>
          <p:cNvPr id="7" name="!!tuile-COPILOTE"/>
          <p:cNvSpPr/>
          <p:nvPr/>
        </p:nvSpPr>
        <p:spPr>
          <a:xfrm>
            <a:off x="6205575" y="1325880"/>
            <a:ext cx="2560320" cy="1188720"/>
          </a:xfrm>
          <a:prstGeom prst="rect">
            <a:avLst/>
          </a:prstGeom>
          <a:solidFill>
            <a:srgbClr val="1C1C1C"/>
          </a:solidFill>
          <a:ln w="317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code-COPILOTE"/>
          <p:cNvSpPr txBox="1"/>
          <p:nvPr/>
        </p:nvSpPr>
        <p:spPr>
          <a:xfrm>
            <a:off x="6297015" y="1325880"/>
            <a:ext cx="2377439" cy="11887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lang="fr-FR">
                <a:solidFill>
                  <a:srgbClr val="FFFFFF"/>
                </a:solidFill>
                <a:latin typeface="Montserrat ExtraBold"/>
              </a:rPr>
              <a:t>COPILOTE</a:t>
            </a:r>
          </a:p>
        </p:txBody>
      </p:sp>
      <p:sp>
        <p:nvSpPr>
          <p:cNvPr id="9" name="!!tuile-MOTEUR FERMÉ"/>
          <p:cNvSpPr/>
          <p:nvPr/>
        </p:nvSpPr>
        <p:spPr>
          <a:xfrm>
            <a:off x="8985351" y="1325880"/>
            <a:ext cx="2560320" cy="1188720"/>
          </a:xfrm>
          <a:prstGeom prst="rect">
            <a:avLst/>
          </a:prstGeom>
          <a:solidFill>
            <a:srgbClr val="1C1C1C"/>
          </a:solidFill>
          <a:ln w="317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code-MOTEUR FERMÉ"/>
          <p:cNvSpPr txBox="1"/>
          <p:nvPr/>
        </p:nvSpPr>
        <p:spPr>
          <a:xfrm>
            <a:off x="9076791" y="1325880"/>
            <a:ext cx="2377439" cy="11887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lang="fr-FR">
                <a:solidFill>
                  <a:srgbClr val="FFFFFF"/>
                </a:solidFill>
                <a:latin typeface="Montserrat ExtraBold"/>
              </a:rPr>
              <a:t>MOTEUR FERMÉ</a:t>
            </a:r>
          </a:p>
        </p:txBody>
      </p:sp>
      <p:sp>
        <p:nvSpPr>
          <p:cNvPr id="11" name="!!tuile-CARROSSERIE"/>
          <p:cNvSpPr/>
          <p:nvPr/>
        </p:nvSpPr>
        <p:spPr>
          <a:xfrm>
            <a:off x="646023" y="2734056"/>
            <a:ext cx="2560320" cy="1188720"/>
          </a:xfrm>
          <a:prstGeom prst="rect">
            <a:avLst/>
          </a:prstGeom>
          <a:solidFill>
            <a:srgbClr val="1C1C1C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code-CARROSSERIE"/>
          <p:cNvSpPr txBox="1"/>
          <p:nvPr/>
        </p:nvSpPr>
        <p:spPr>
          <a:xfrm>
            <a:off x="737463" y="2734056"/>
            <a:ext cx="2377439" cy="11887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lang="fr-FR">
                <a:solidFill>
                  <a:srgbClr val="FFFFFF"/>
                </a:solidFill>
                <a:latin typeface="Montserrat ExtraBold"/>
              </a:rPr>
              <a:t>CARROSSERIE</a:t>
            </a:r>
          </a:p>
        </p:txBody>
      </p:sp>
      <p:sp>
        <p:nvSpPr>
          <p:cNvPr id="13" name="!!tuile-INJECTION"/>
          <p:cNvSpPr/>
          <p:nvPr/>
        </p:nvSpPr>
        <p:spPr>
          <a:xfrm>
            <a:off x="3425799" y="2734056"/>
            <a:ext cx="2560320" cy="1188720"/>
          </a:xfrm>
          <a:prstGeom prst="rect">
            <a:avLst/>
          </a:prstGeom>
          <a:solidFill>
            <a:srgbClr val="1C1C1C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code-INJECTION"/>
          <p:cNvSpPr txBox="1"/>
          <p:nvPr/>
        </p:nvSpPr>
        <p:spPr>
          <a:xfrm>
            <a:off x="3517239" y="2734056"/>
            <a:ext cx="2377439" cy="11887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lang="fr-FR">
                <a:solidFill>
                  <a:srgbClr val="FFFFFF"/>
                </a:solidFill>
                <a:latin typeface="Montserrat ExtraBold"/>
              </a:rPr>
              <a:t>INJECTION</a:t>
            </a:r>
          </a:p>
        </p:txBody>
      </p:sp>
      <p:sp>
        <p:nvSpPr>
          <p:cNvPr id="15" name="!!tuile-RÉGLAGE MOTEUR"/>
          <p:cNvSpPr/>
          <p:nvPr/>
        </p:nvSpPr>
        <p:spPr>
          <a:xfrm>
            <a:off x="6205575" y="2734056"/>
            <a:ext cx="2560320" cy="1188720"/>
          </a:xfrm>
          <a:prstGeom prst="rect">
            <a:avLst/>
          </a:prstGeom>
          <a:solidFill>
            <a:srgbClr val="1C1C1C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code-RÉGLAGE MOTEUR"/>
          <p:cNvSpPr txBox="1"/>
          <p:nvPr/>
        </p:nvSpPr>
        <p:spPr>
          <a:xfrm>
            <a:off x="6297015" y="2734056"/>
            <a:ext cx="2377439" cy="11887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lang="fr-FR">
                <a:solidFill>
                  <a:srgbClr val="FFFFFF"/>
                </a:solidFill>
                <a:latin typeface="Montserrat ExtraBold"/>
              </a:rPr>
              <a:t>RÉGLAGE MOTEUR</a:t>
            </a:r>
          </a:p>
        </p:txBody>
      </p:sp>
      <p:sp>
        <p:nvSpPr>
          <p:cNvPr id="17" name="!!tuile-CONTRÔLE TECHNIQUE"/>
          <p:cNvSpPr/>
          <p:nvPr/>
        </p:nvSpPr>
        <p:spPr>
          <a:xfrm>
            <a:off x="8985351" y="2734056"/>
            <a:ext cx="2560320" cy="1188720"/>
          </a:xfrm>
          <a:prstGeom prst="rect">
            <a:avLst/>
          </a:prstGeom>
          <a:solidFill>
            <a:srgbClr val="1C1C1C"/>
          </a:solidFill>
          <a:ln w="31750">
            <a:solidFill>
              <a:srgbClr val="7FA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code-CONTRÔLE TECHNIQUE"/>
          <p:cNvSpPr txBox="1"/>
          <p:nvPr/>
        </p:nvSpPr>
        <p:spPr>
          <a:xfrm>
            <a:off x="9076791" y="2734056"/>
            <a:ext cx="2377439" cy="11887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lang="fr-FR">
                <a:solidFill>
                  <a:srgbClr val="FFFFFF"/>
                </a:solidFill>
                <a:latin typeface="Montserrat ExtraBold"/>
              </a:rPr>
              <a:t>CONTRÔLE TECHNIQUE</a:t>
            </a:r>
          </a:p>
        </p:txBody>
      </p:sp>
      <p:sp>
        <p:nvSpPr>
          <p:cNvPr id="19" name="!!tuile-TABLEAU DE BORD"/>
          <p:cNvSpPr/>
          <p:nvPr/>
        </p:nvSpPr>
        <p:spPr>
          <a:xfrm>
            <a:off x="646023" y="4142232"/>
            <a:ext cx="2560320" cy="1188720"/>
          </a:xfrm>
          <a:prstGeom prst="rect">
            <a:avLst/>
          </a:prstGeom>
          <a:solidFill>
            <a:srgbClr val="1C1C1C"/>
          </a:solidFill>
          <a:ln w="31750">
            <a:solidFill>
              <a:srgbClr val="7FA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code-TABLEAU DE BORD"/>
          <p:cNvSpPr txBox="1"/>
          <p:nvPr/>
        </p:nvSpPr>
        <p:spPr>
          <a:xfrm>
            <a:off x="737463" y="4142232"/>
            <a:ext cx="2377439" cy="11887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lang="fr-FR">
                <a:solidFill>
                  <a:srgbClr val="FFFFFF"/>
                </a:solidFill>
                <a:latin typeface="Montserrat ExtraBold"/>
              </a:rPr>
              <a:t>TABLEAU DE BORD</a:t>
            </a:r>
          </a:p>
        </p:txBody>
      </p:sp>
      <p:sp>
        <p:nvSpPr>
          <p:cNvPr id="21" name="!!tuile-TRACTION"/>
          <p:cNvSpPr/>
          <p:nvPr/>
        </p:nvSpPr>
        <p:spPr>
          <a:xfrm>
            <a:off x="3425799" y="4142232"/>
            <a:ext cx="2560320" cy="1188720"/>
          </a:xfrm>
          <a:prstGeom prst="rect">
            <a:avLst/>
          </a:prstGeom>
          <a:solidFill>
            <a:srgbClr val="1C1C1C"/>
          </a:solidFill>
          <a:ln w="31750">
            <a:solidFill>
              <a:srgbClr val="B8B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!!code-TRACTION"/>
          <p:cNvSpPr txBox="1"/>
          <p:nvPr/>
        </p:nvSpPr>
        <p:spPr>
          <a:xfrm>
            <a:off x="3517239" y="4142232"/>
            <a:ext cx="2377439" cy="11887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lang="fr-FR">
                <a:solidFill>
                  <a:srgbClr val="FFFFFF"/>
                </a:solidFill>
                <a:latin typeface="Montserrat ExtraBold"/>
              </a:rPr>
              <a:t>TRACTION</a:t>
            </a:r>
          </a:p>
        </p:txBody>
      </p:sp>
      <p:sp>
        <p:nvSpPr>
          <p:cNvPr id="23" name="!!tuile-EMBRAYAGE"/>
          <p:cNvSpPr/>
          <p:nvPr/>
        </p:nvSpPr>
        <p:spPr>
          <a:xfrm>
            <a:off x="6205575" y="4142232"/>
            <a:ext cx="2560320" cy="1188720"/>
          </a:xfrm>
          <a:prstGeom prst="rect">
            <a:avLst/>
          </a:prstGeom>
          <a:solidFill>
            <a:srgbClr val="1C1C1C"/>
          </a:solidFill>
          <a:ln w="31750">
            <a:solidFill>
              <a:srgbClr val="B8B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!!code-EMBRAYAGE"/>
          <p:cNvSpPr txBox="1"/>
          <p:nvPr/>
        </p:nvSpPr>
        <p:spPr>
          <a:xfrm>
            <a:off x="6297015" y="4142232"/>
            <a:ext cx="2377439" cy="11887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lang="fr-FR">
                <a:solidFill>
                  <a:srgbClr val="FFFFFF"/>
                </a:solidFill>
                <a:latin typeface="Montserrat ExtraBold"/>
              </a:rPr>
              <a:t>EMBRAYAGE</a:t>
            </a:r>
          </a:p>
        </p:txBody>
      </p:sp>
      <p:sp>
        <p:nvSpPr>
          <p:cNvPr id="25" name="!!tuile-SUR-MESURE"/>
          <p:cNvSpPr/>
          <p:nvPr/>
        </p:nvSpPr>
        <p:spPr>
          <a:xfrm>
            <a:off x="8985351" y="4142232"/>
            <a:ext cx="2560320" cy="1188720"/>
          </a:xfrm>
          <a:prstGeom prst="rect">
            <a:avLst/>
          </a:prstGeom>
          <a:solidFill>
            <a:srgbClr val="1C1C1C"/>
          </a:solidFill>
          <a:ln w="31750">
            <a:solidFill>
              <a:srgbClr val="B8B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code-SUR-MESURE"/>
          <p:cNvSpPr txBox="1"/>
          <p:nvPr/>
        </p:nvSpPr>
        <p:spPr>
          <a:xfrm>
            <a:off x="9076791" y="4142232"/>
            <a:ext cx="2377439" cy="11887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lang="fr-FR">
                <a:solidFill>
                  <a:srgbClr val="FFFFFF"/>
                </a:solidFill>
                <a:latin typeface="Montserrat ExtraBold"/>
              </a:rPr>
              <a:t>SUR-MESURE</a:t>
            </a:r>
          </a:p>
        </p:txBody>
      </p:sp>
      <p:sp>
        <p:nvSpPr>
          <p:cNvPr id="27" name="legende-IA"/>
          <p:cNvSpPr/>
          <p:nvPr/>
        </p:nvSpPr>
        <p:spPr>
          <a:xfrm>
            <a:off x="646023" y="5760720"/>
            <a:ext cx="292608" cy="29260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egende-txt-IA"/>
          <p:cNvSpPr txBox="1"/>
          <p:nvPr/>
        </p:nvSpPr>
        <p:spPr>
          <a:xfrm>
            <a:off x="1030071" y="5596128"/>
            <a:ext cx="603550" cy="59436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lang="fr-FR">
                <a:solidFill>
                  <a:srgbClr val="FFFFFF"/>
                </a:solidFill>
                <a:latin typeface="Montserrat"/>
              </a:rPr>
              <a:t>IA</a:t>
            </a:r>
          </a:p>
        </p:txBody>
      </p:sp>
      <p:sp>
        <p:nvSpPr>
          <p:cNvPr id="29" name="legende-Web &amp; com"/>
          <p:cNvSpPr/>
          <p:nvPr/>
        </p:nvSpPr>
        <p:spPr>
          <a:xfrm>
            <a:off x="1953661" y="5760720"/>
            <a:ext cx="292608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legende-txt-Web &amp; com"/>
          <p:cNvSpPr txBox="1"/>
          <p:nvPr/>
        </p:nvSpPr>
        <p:spPr>
          <a:xfrm>
            <a:off x="2337709" y="5596128"/>
            <a:ext cx="2139501" cy="59436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lang="fr-FR">
                <a:solidFill>
                  <a:srgbClr val="FFFFFF"/>
                </a:solidFill>
                <a:latin typeface="Montserrat"/>
              </a:rPr>
              <a:t>Web &amp; com</a:t>
            </a:r>
          </a:p>
        </p:txBody>
      </p:sp>
      <p:sp>
        <p:nvSpPr>
          <p:cNvPr id="31" name="legende-Gouvernance"/>
          <p:cNvSpPr/>
          <p:nvPr/>
        </p:nvSpPr>
        <p:spPr>
          <a:xfrm>
            <a:off x="4797250" y="5760720"/>
            <a:ext cx="292608" cy="292608"/>
          </a:xfrm>
          <a:prstGeom prst="rect">
            <a:avLst/>
          </a:prstGeom>
          <a:solidFill>
            <a:srgbClr val="7FA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legende-txt-Gouvernance"/>
          <p:cNvSpPr txBox="1"/>
          <p:nvPr/>
        </p:nvSpPr>
        <p:spPr>
          <a:xfrm>
            <a:off x="5181298" y="5596128"/>
            <a:ext cx="2437684" cy="59436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lang="fr-FR">
                <a:solidFill>
                  <a:srgbClr val="FFFFFF"/>
                </a:solidFill>
                <a:latin typeface="Montserrat"/>
              </a:rPr>
              <a:t>Gouvernance</a:t>
            </a:r>
          </a:p>
        </p:txBody>
      </p:sp>
      <p:sp>
        <p:nvSpPr>
          <p:cNvPr id="33" name="legende-Humain"/>
          <p:cNvSpPr/>
          <p:nvPr/>
        </p:nvSpPr>
        <p:spPr>
          <a:xfrm>
            <a:off x="7939023" y="5760720"/>
            <a:ext cx="292608" cy="292608"/>
          </a:xfrm>
          <a:prstGeom prst="rect">
            <a:avLst/>
          </a:prstGeom>
          <a:solidFill>
            <a:srgbClr val="B8B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legende-txt-Humain"/>
          <p:cNvSpPr txBox="1"/>
          <p:nvPr/>
        </p:nvSpPr>
        <p:spPr>
          <a:xfrm>
            <a:off x="8323071" y="5596128"/>
            <a:ext cx="1592838" cy="59436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lang="fr-FR">
                <a:solidFill>
                  <a:srgbClr val="FFFFFF"/>
                </a:solidFill>
                <a:latin typeface="Montserrat"/>
              </a:rPr>
              <a:t>Humain</a:t>
            </a:r>
          </a:p>
        </p:txBody>
      </p:sp>
      <p:pic>
        <p:nvPicPr>
          <p:cNvPr id="35" name="!!logo" descr="Emblème YEBA FORMATIONS : trois pitons reliés en résea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6236208"/>
            <a:ext cx="868680" cy="406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titre"/>
          <p:cNvSpPr>
            <a:spLocks noGrp="1"/>
          </p:cNvSpPr>
          <p:nvPr>
            <p:ph type="title"/>
          </p:nvPr>
        </p:nvSpPr>
        <p:spPr>
          <a:xfrm>
            <a:off x="4389120" y="1051560"/>
            <a:ext cx="7253935" cy="2286000"/>
          </a:xfrm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5000" lang="fr-FR">
                <a:solidFill>
                  <a:srgbClr val="FFFFFF"/>
                </a:solidFill>
                <a:latin typeface="Montserrat ExtraBold"/>
              </a:rPr>
              <a:t>Comprendre. Produire.</a:t>
            </a:r>
          </a:p>
          <a:p>
            <a:pPr algn="l">
              <a:lnSpc>
                <a:spcPct val="100000"/>
              </a:lnSpc>
            </a:pPr>
            <a:r>
              <a:rPr sz="5000" lang="fr-FR">
                <a:solidFill>
                  <a:srgbClr val="C9A84C"/>
                </a:solidFill>
                <a:latin typeface="Montserrat ExtraBold"/>
              </a:rPr>
              <a:t>Prouver.</a:t>
            </a:r>
          </a:p>
        </p:txBody>
      </p:sp>
      <p:sp>
        <p:nvSpPr>
          <p:cNvPr id="3" name="!!tuile-ALLUMAGE-TURBO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code-ALLUMAGE-TURBO"/>
          <p:cNvSpPr txBox="1"/>
          <p:nvPr/>
        </p:nvSpPr>
        <p:spPr>
          <a:xfrm rot="16200000">
            <a:off x="-1325880" y="2834640"/>
            <a:ext cx="6400800" cy="11887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ctr">
              <a:lnSpc>
                <a:spcPct val="100000"/>
              </a:lnSpc>
            </a:pPr>
            <a:r>
              <a:rPr sz="4400" lang="fr-FR">
                <a:solidFill>
                  <a:srgbClr val="121212"/>
                </a:solidFill>
                <a:latin typeface="Montserrat Black"/>
              </a:rPr>
              <a:t>ALLUMAGE-TURBO</a:t>
            </a:r>
          </a:p>
        </p:txBody>
      </p:sp>
      <p:sp>
        <p:nvSpPr>
          <p:cNvPr id="5" name="famille"/>
          <p:cNvSpPr txBox="1"/>
          <p:nvPr/>
        </p:nvSpPr>
        <p:spPr>
          <a:xfrm>
            <a:off x="4389120" y="502920"/>
            <a:ext cx="7253935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lang="fr-FR" spc="500">
                <a:solidFill>
                  <a:srgbClr val="C9A84C"/>
                </a:solidFill>
                <a:latin typeface="Montserrat ExtraBold"/>
              </a:rPr>
              <a:t>IA GÉNÉRATIVE</a:t>
            </a:r>
          </a:p>
        </p:txBody>
      </p:sp>
      <p:sp>
        <p:nvSpPr>
          <p:cNvPr id="6" name="puce0"/>
          <p:cNvSpPr txBox="1"/>
          <p:nvPr/>
        </p:nvSpPr>
        <p:spPr>
          <a:xfrm>
            <a:off x="4389120" y="3520440"/>
            <a:ext cx="7253935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lang="fr-FR">
                <a:solidFill>
                  <a:srgbClr val="C9A84C"/>
                </a:solidFill>
                <a:latin typeface="Montserrat ExtraBold"/>
              </a:rPr>
              <a:t>— </a:t>
            </a:r>
            <a:r>
              <a:rPr sz="3200" lang="fr-FR">
                <a:solidFill>
                  <a:srgbClr val="FFFFFF"/>
                </a:solidFill>
                <a:latin typeface="Montserrat ExtraBold"/>
              </a:rPr>
              <a:t>J1 · Bien demander</a:t>
            </a:r>
          </a:p>
        </p:txBody>
      </p:sp>
      <p:sp>
        <p:nvSpPr>
          <p:cNvPr id="7" name="puce1"/>
          <p:cNvSpPr txBox="1"/>
          <p:nvPr/>
        </p:nvSpPr>
        <p:spPr>
          <a:xfrm>
            <a:off x="4389120" y="4178808"/>
            <a:ext cx="7253935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lang="fr-FR">
                <a:solidFill>
                  <a:srgbClr val="C9A84C"/>
                </a:solidFill>
                <a:latin typeface="Montserrat ExtraBold"/>
              </a:rPr>
              <a:t>— </a:t>
            </a:r>
            <a:r>
              <a:rPr sz="3200" lang="fr-FR">
                <a:solidFill>
                  <a:srgbClr val="FFFFFF"/>
                </a:solidFill>
                <a:latin typeface="Montserrat ExtraBold"/>
              </a:rPr>
              <a:t>J2 · Produire</a:t>
            </a:r>
          </a:p>
        </p:txBody>
      </p:sp>
      <p:sp>
        <p:nvSpPr>
          <p:cNvPr id="8" name="puce2"/>
          <p:cNvSpPr txBox="1"/>
          <p:nvPr/>
        </p:nvSpPr>
        <p:spPr>
          <a:xfrm>
            <a:off x="4389120" y="4837176"/>
            <a:ext cx="7253935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lang="fr-FR">
                <a:solidFill>
                  <a:srgbClr val="C9A84C"/>
                </a:solidFill>
                <a:latin typeface="Montserrat ExtraBold"/>
              </a:rPr>
              <a:t>— </a:t>
            </a:r>
            <a:r>
              <a:rPr sz="3200" lang="fr-FR">
                <a:solidFill>
                  <a:srgbClr val="FFFFFF"/>
                </a:solidFill>
                <a:latin typeface="Montserrat ExtraBold"/>
              </a:rPr>
              <a:t>J3 · Automatiser &amp; prouver</a:t>
            </a:r>
          </a:p>
        </p:txBody>
      </p:sp>
      <p:sp>
        <p:nvSpPr>
          <p:cNvPr id="9" name="chip0"/>
          <p:cNvSpPr/>
          <p:nvPr/>
        </p:nvSpPr>
        <p:spPr>
          <a:xfrm>
            <a:off x="4389120" y="5532120"/>
            <a:ext cx="2637412" cy="621792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/>
            <a:r>
              <a:rPr sz="2400" lang="fr-FR">
                <a:solidFill>
                  <a:srgbClr val="FFFFFF"/>
                </a:solidFill>
                <a:latin typeface="Montserrat ExtraBold"/>
              </a:rPr>
              <a:t>3 jours · 24 h</a:t>
            </a:r>
          </a:p>
        </p:txBody>
      </p:sp>
      <p:sp>
        <p:nvSpPr>
          <p:cNvPr id="10" name="chip1"/>
          <p:cNvSpPr/>
          <p:nvPr/>
        </p:nvSpPr>
        <p:spPr>
          <a:xfrm>
            <a:off x="7255132" y="5532120"/>
            <a:ext cx="2363755" cy="621792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/>
            <a:r>
              <a:rPr sz="2400" lang="fr-FR">
                <a:solidFill>
                  <a:srgbClr val="FFFFFF"/>
                </a:solidFill>
                <a:latin typeface="Montserrat ExtraBold"/>
              </a:rPr>
              <a:t>4 à 10 pers.</a:t>
            </a:r>
          </a:p>
        </p:txBody>
      </p:sp>
      <p:sp>
        <p:nvSpPr>
          <p:cNvPr id="11" name="chip2"/>
          <p:cNvSpPr/>
          <p:nvPr/>
        </p:nvSpPr>
        <p:spPr>
          <a:xfrm>
            <a:off x="9847488" y="5532120"/>
            <a:ext cx="1281389" cy="621792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/>
            <a:r>
              <a:rPr sz="2400" lang="fr-FR">
                <a:solidFill>
                  <a:srgbClr val="FFFFFF"/>
                </a:solidFill>
                <a:latin typeface="Montserrat ExtraBold"/>
              </a:rPr>
              <a:t>Inter</a:t>
            </a:r>
          </a:p>
        </p:txBody>
      </p:sp>
      <p:pic>
        <p:nvPicPr>
          <p:cNvPr id="12" name="!!logo" descr="Emblème YEBA FORMATIONS : trois pitons reliés en résea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6236208"/>
            <a:ext cx="868680" cy="406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titre"/>
          <p:cNvSpPr>
            <a:spLocks noGrp="1"/>
          </p:cNvSpPr>
          <p:nvPr>
            <p:ph type="title"/>
          </p:nvPr>
        </p:nvSpPr>
        <p:spPr>
          <a:xfrm>
            <a:off x="4389120" y="1051560"/>
            <a:ext cx="7253935" cy="2286000"/>
          </a:xfrm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5000" lang="fr-FR">
                <a:solidFill>
                  <a:srgbClr val="FFFFFF"/>
                </a:solidFill>
                <a:latin typeface="Montserrat ExtraBold"/>
              </a:rPr>
              <a:t>Des agents IA.</a:t>
            </a:r>
          </a:p>
          <a:p>
            <a:pPr algn="l">
              <a:lnSpc>
                <a:spcPct val="100000"/>
              </a:lnSpc>
            </a:pPr>
            <a:r>
              <a:rPr sz="5000" lang="fr-FR">
                <a:solidFill>
                  <a:srgbClr val="C9A84C"/>
                </a:solidFill>
                <a:latin typeface="Montserrat ExtraBold"/>
              </a:rPr>
              <a:t>Sous contrôle humain.</a:t>
            </a:r>
          </a:p>
        </p:txBody>
      </p:sp>
      <p:sp>
        <p:nvSpPr>
          <p:cNvPr id="3" name="!!tuile-PILOTE AUTOMATIQUE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code-PILOTE AUTOMATIQUE"/>
          <p:cNvSpPr txBox="1"/>
          <p:nvPr/>
        </p:nvSpPr>
        <p:spPr>
          <a:xfrm rot="16200000">
            <a:off x="-1325880" y="2834640"/>
            <a:ext cx="6400800" cy="11887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ctr">
              <a:lnSpc>
                <a:spcPct val="100000"/>
              </a:lnSpc>
            </a:pPr>
            <a:r>
              <a:rPr sz="3600" lang="fr-FR">
                <a:solidFill>
                  <a:srgbClr val="121212"/>
                </a:solidFill>
                <a:latin typeface="Montserrat Black"/>
              </a:rPr>
              <a:t>PILOTE AUTOMATIQUE</a:t>
            </a:r>
          </a:p>
        </p:txBody>
      </p:sp>
      <p:sp>
        <p:nvSpPr>
          <p:cNvPr id="5" name="famille"/>
          <p:cNvSpPr txBox="1"/>
          <p:nvPr/>
        </p:nvSpPr>
        <p:spPr>
          <a:xfrm>
            <a:off x="4389120" y="502920"/>
            <a:ext cx="7253935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lang="fr-FR" spc="500">
                <a:solidFill>
                  <a:srgbClr val="C9A84C"/>
                </a:solidFill>
                <a:latin typeface="Montserrat ExtraBold"/>
              </a:rPr>
              <a:t>IA · NIVEAU AVANCÉ</a:t>
            </a:r>
          </a:p>
        </p:txBody>
      </p:sp>
      <p:sp>
        <p:nvSpPr>
          <p:cNvPr id="6" name="puce0"/>
          <p:cNvSpPr txBox="1"/>
          <p:nvPr/>
        </p:nvSpPr>
        <p:spPr>
          <a:xfrm>
            <a:off x="4389120" y="3520440"/>
            <a:ext cx="7253935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lang="fr-FR">
                <a:solidFill>
                  <a:srgbClr val="C9A84C"/>
                </a:solidFill>
                <a:latin typeface="Montserrat ExtraBold"/>
              </a:rPr>
              <a:t>— </a:t>
            </a:r>
            <a:r>
              <a:rPr sz="3200" lang="fr-FR">
                <a:solidFill>
                  <a:srgbClr val="FFFFFF"/>
                </a:solidFill>
                <a:latin typeface="Montserrat ExtraBold"/>
              </a:rPr>
              <a:t>Autonomie mesurée</a:t>
            </a:r>
          </a:p>
        </p:txBody>
      </p:sp>
      <p:sp>
        <p:nvSpPr>
          <p:cNvPr id="7" name="puce1"/>
          <p:cNvSpPr txBox="1"/>
          <p:nvPr/>
        </p:nvSpPr>
        <p:spPr>
          <a:xfrm>
            <a:off x="4389120" y="4178808"/>
            <a:ext cx="7253935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lang="fr-FR">
                <a:solidFill>
                  <a:srgbClr val="C9A84C"/>
                </a:solidFill>
                <a:latin typeface="Montserrat ExtraBold"/>
              </a:rPr>
              <a:t>— </a:t>
            </a:r>
            <a:r>
              <a:rPr sz="3200" lang="fr-FR">
                <a:solidFill>
                  <a:srgbClr val="FFFFFF"/>
                </a:solidFill>
                <a:latin typeface="Montserrat ExtraBold"/>
              </a:rPr>
              <a:t>Traçabilité</a:t>
            </a:r>
          </a:p>
        </p:txBody>
      </p:sp>
      <p:sp>
        <p:nvSpPr>
          <p:cNvPr id="8" name="puce2"/>
          <p:cNvSpPr txBox="1"/>
          <p:nvPr/>
        </p:nvSpPr>
        <p:spPr>
          <a:xfrm>
            <a:off x="4389120" y="4837176"/>
            <a:ext cx="7253935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lang="fr-FR">
                <a:solidFill>
                  <a:srgbClr val="C9A84C"/>
                </a:solidFill>
                <a:latin typeface="Montserrat ExtraBold"/>
              </a:rPr>
              <a:t>— </a:t>
            </a:r>
            <a:r>
              <a:rPr sz="3200" lang="fr-FR">
                <a:solidFill>
                  <a:srgbClr val="FFFFFF"/>
                </a:solidFill>
                <a:latin typeface="Montserrat ExtraBold"/>
              </a:rPr>
              <a:t>Arrêt d'urgence</a:t>
            </a:r>
          </a:p>
        </p:txBody>
      </p:sp>
      <p:sp>
        <p:nvSpPr>
          <p:cNvPr id="9" name="chip0"/>
          <p:cNvSpPr/>
          <p:nvPr/>
        </p:nvSpPr>
        <p:spPr>
          <a:xfrm>
            <a:off x="4389120" y="5532120"/>
            <a:ext cx="2558597" cy="621792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/>
            <a:r>
              <a:rPr sz="2400" lang="fr-FR">
                <a:solidFill>
                  <a:srgbClr val="FFFFFF"/>
                </a:solidFill>
                <a:latin typeface="Montserrat ExtraBold"/>
              </a:rPr>
              <a:t>2 jours · 16 h</a:t>
            </a:r>
          </a:p>
        </p:txBody>
      </p:sp>
      <p:sp>
        <p:nvSpPr>
          <p:cNvPr id="10" name="chip1"/>
          <p:cNvSpPr/>
          <p:nvPr/>
        </p:nvSpPr>
        <p:spPr>
          <a:xfrm>
            <a:off x="7176317" y="5532120"/>
            <a:ext cx="2227726" cy="621792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/>
            <a:r>
              <a:rPr sz="2400" lang="fr-FR">
                <a:solidFill>
                  <a:srgbClr val="FFFFFF"/>
                </a:solidFill>
                <a:latin typeface="Montserrat ExtraBold"/>
              </a:rPr>
              <a:t>4 à 8 pers.</a:t>
            </a:r>
          </a:p>
        </p:txBody>
      </p:sp>
      <p:sp>
        <p:nvSpPr>
          <p:cNvPr id="11" name="chip2"/>
          <p:cNvSpPr/>
          <p:nvPr/>
        </p:nvSpPr>
        <p:spPr>
          <a:xfrm>
            <a:off x="9632643" y="5532120"/>
            <a:ext cx="1735017" cy="621792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/>
            <a:r>
              <a:rPr sz="2400" lang="fr-FR">
                <a:solidFill>
                  <a:srgbClr val="FFFFFF"/>
                </a:solidFill>
                <a:latin typeface="Montserrat ExtraBold"/>
              </a:rPr>
              <a:t>Avancé</a:t>
            </a:r>
          </a:p>
        </p:txBody>
      </p:sp>
      <p:pic>
        <p:nvPicPr>
          <p:cNvPr id="12" name="!!logo" descr="Emblème YEBA FORMATIONS : trois pitons reliés en résea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6236208"/>
            <a:ext cx="868680" cy="406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titre"/>
          <p:cNvSpPr>
            <a:spLocks noGrp="1"/>
          </p:cNvSpPr>
          <p:nvPr>
            <p:ph type="title"/>
          </p:nvPr>
        </p:nvSpPr>
        <p:spPr>
          <a:xfrm>
            <a:off x="4389120" y="1051560"/>
            <a:ext cx="7253935" cy="2286000"/>
          </a:xfrm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5200" lang="fr-FR">
                <a:solidFill>
                  <a:srgbClr val="FFFFFF"/>
                </a:solidFill>
                <a:latin typeface="Montserrat ExtraBold"/>
              </a:rPr>
              <a:t>Votre site internet.</a:t>
            </a:r>
          </a:p>
          <a:p>
            <a:pPr algn="l">
              <a:lnSpc>
                <a:spcPct val="100000"/>
              </a:lnSpc>
            </a:pPr>
            <a:r>
              <a:rPr sz="5200" lang="fr-FR">
                <a:solidFill>
                  <a:srgbClr val="C9A84C"/>
                </a:solidFill>
                <a:latin typeface="Montserrat ExtraBold"/>
              </a:rPr>
              <a:t>À la voix. En 1 jour.</a:t>
            </a:r>
          </a:p>
        </p:txBody>
      </p:sp>
      <p:sp>
        <p:nvSpPr>
          <p:cNvPr id="3" name="!!tuile-CARROSSERIE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code-CARROSSERIE"/>
          <p:cNvSpPr txBox="1"/>
          <p:nvPr/>
        </p:nvSpPr>
        <p:spPr>
          <a:xfrm rot="16200000">
            <a:off x="-1325880" y="2834640"/>
            <a:ext cx="6400800" cy="11887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ctr">
              <a:lnSpc>
                <a:spcPct val="100000"/>
              </a:lnSpc>
            </a:pPr>
            <a:r>
              <a:rPr sz="4800" lang="fr-FR">
                <a:solidFill>
                  <a:srgbClr val="121212"/>
                </a:solidFill>
                <a:latin typeface="Montserrat Black"/>
              </a:rPr>
              <a:t>CARROSSERIE</a:t>
            </a:r>
          </a:p>
        </p:txBody>
      </p:sp>
      <p:sp>
        <p:nvSpPr>
          <p:cNvPr id="5" name="famille"/>
          <p:cNvSpPr txBox="1"/>
          <p:nvPr/>
        </p:nvSpPr>
        <p:spPr>
          <a:xfrm>
            <a:off x="4389120" y="502920"/>
            <a:ext cx="7253935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lang="fr-FR" spc="500">
                <a:solidFill>
                  <a:srgbClr val="C9A84C"/>
                </a:solidFill>
                <a:latin typeface="Montserrat ExtraBold"/>
              </a:rPr>
              <a:t>INTERNET À LA VOIX</a:t>
            </a:r>
          </a:p>
        </p:txBody>
      </p:sp>
      <p:sp>
        <p:nvSpPr>
          <p:cNvPr id="6" name="puce0"/>
          <p:cNvSpPr txBox="1"/>
          <p:nvPr/>
        </p:nvSpPr>
        <p:spPr>
          <a:xfrm>
            <a:off x="4389120" y="3520440"/>
            <a:ext cx="7253935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lang="fr-FR">
                <a:solidFill>
                  <a:srgbClr val="C9A84C"/>
                </a:solidFill>
                <a:latin typeface="Montserrat ExtraBold"/>
              </a:rPr>
              <a:t>— </a:t>
            </a:r>
            <a:r>
              <a:rPr sz="3200" lang="fr-FR">
                <a:solidFill>
                  <a:srgbClr val="FFFFFF"/>
                </a:solidFill>
                <a:latin typeface="Montserrat ExtraBold"/>
              </a:rPr>
              <a:t>Dicter</a:t>
            </a:r>
          </a:p>
        </p:txBody>
      </p:sp>
      <p:sp>
        <p:nvSpPr>
          <p:cNvPr id="7" name="puce1"/>
          <p:cNvSpPr txBox="1"/>
          <p:nvPr/>
        </p:nvSpPr>
        <p:spPr>
          <a:xfrm>
            <a:off x="4389120" y="4178808"/>
            <a:ext cx="7253935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lang="fr-FR">
                <a:solidFill>
                  <a:srgbClr val="C9A84C"/>
                </a:solidFill>
                <a:latin typeface="Montserrat ExtraBold"/>
              </a:rPr>
              <a:t>— </a:t>
            </a:r>
            <a:r>
              <a:rPr sz="3200" lang="fr-FR">
                <a:solidFill>
                  <a:srgbClr val="FFFFFF"/>
                </a:solidFill>
                <a:latin typeface="Montserrat ExtraBold"/>
              </a:rPr>
              <a:t>Corriger</a:t>
            </a:r>
          </a:p>
        </p:txBody>
      </p:sp>
      <p:sp>
        <p:nvSpPr>
          <p:cNvPr id="8" name="puce2"/>
          <p:cNvSpPr txBox="1"/>
          <p:nvPr/>
        </p:nvSpPr>
        <p:spPr>
          <a:xfrm>
            <a:off x="4389120" y="4837176"/>
            <a:ext cx="7253935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lang="fr-FR">
                <a:solidFill>
                  <a:srgbClr val="C9A84C"/>
                </a:solidFill>
                <a:latin typeface="Montserrat ExtraBold"/>
              </a:rPr>
              <a:t>— </a:t>
            </a:r>
            <a:r>
              <a:rPr sz="3200" lang="fr-FR">
                <a:solidFill>
                  <a:srgbClr val="FFFFFF"/>
                </a:solidFill>
                <a:latin typeface="Montserrat ExtraBold"/>
              </a:rPr>
              <a:t>Publier conforme</a:t>
            </a:r>
          </a:p>
        </p:txBody>
      </p:sp>
      <p:sp>
        <p:nvSpPr>
          <p:cNvPr id="9" name="chip0"/>
          <p:cNvSpPr/>
          <p:nvPr/>
        </p:nvSpPr>
        <p:spPr>
          <a:xfrm>
            <a:off x="4389120" y="5532120"/>
            <a:ext cx="2194786" cy="621792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/>
            <a:r>
              <a:rPr sz="2400" lang="fr-FR">
                <a:solidFill>
                  <a:srgbClr val="FFFFFF"/>
                </a:solidFill>
                <a:latin typeface="Montserrat ExtraBold"/>
              </a:rPr>
              <a:t>1 jour · 8 h</a:t>
            </a:r>
          </a:p>
        </p:txBody>
      </p:sp>
      <p:sp>
        <p:nvSpPr>
          <p:cNvPr id="10" name="chip1"/>
          <p:cNvSpPr/>
          <p:nvPr/>
        </p:nvSpPr>
        <p:spPr>
          <a:xfrm>
            <a:off x="6812506" y="5532120"/>
            <a:ext cx="1270725" cy="621792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/>
            <a:r>
              <a:rPr sz="2400" lang="fr-FR">
                <a:solidFill>
                  <a:srgbClr val="FFFFFF"/>
                </a:solidFill>
                <a:latin typeface="Montserrat ExtraBold"/>
              </a:rPr>
              <a:t>Intra</a:t>
            </a:r>
          </a:p>
        </p:txBody>
      </p:sp>
      <p:sp>
        <p:nvSpPr>
          <p:cNvPr id="11" name="chip2"/>
          <p:cNvSpPr/>
          <p:nvPr/>
        </p:nvSpPr>
        <p:spPr>
          <a:xfrm>
            <a:off x="8311832" y="5532120"/>
            <a:ext cx="2205766" cy="621792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/>
            <a:r>
              <a:rPr sz="2400" lang="fr-FR">
                <a:solidFill>
                  <a:srgbClr val="FFFFFF"/>
                </a:solidFill>
                <a:latin typeface="Montserrat ExtraBold"/>
              </a:rPr>
              <a:t>Sans code</a:t>
            </a:r>
          </a:p>
        </p:txBody>
      </p:sp>
      <p:pic>
        <p:nvPicPr>
          <p:cNvPr id="12" name="!!logo" descr="Emblème YEBA FORMATIONS : trois pitons reliés en résea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6236208"/>
            <a:ext cx="868680" cy="406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titre"/>
          <p:cNvSpPr>
            <a:spLocks noGrp="1"/>
          </p:cNvSpPr>
          <p:nvPr>
            <p:ph type="title"/>
          </p:nvPr>
        </p:nvSpPr>
        <p:spPr>
          <a:xfrm>
            <a:off x="4389120" y="1051560"/>
            <a:ext cx="7253935" cy="2286000"/>
          </a:xfrm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5000" lang="fr-FR">
                <a:solidFill>
                  <a:srgbClr val="FFFFFF"/>
                </a:solidFill>
                <a:latin typeface="Montserrat ExtraBold"/>
              </a:rPr>
              <a:t>Des emails</a:t>
            </a:r>
          </a:p>
          <a:p>
            <a:pPr algn="l">
              <a:lnSpc>
                <a:spcPct val="100000"/>
              </a:lnSpc>
            </a:pPr>
            <a:r>
              <a:rPr sz="5000" lang="fr-FR">
                <a:solidFill>
                  <a:srgbClr val="C9A84C"/>
                </a:solidFill>
                <a:latin typeface="Montserrat ExtraBold"/>
              </a:rPr>
              <a:t>qui obtiennent une réponse.</a:t>
            </a:r>
          </a:p>
        </p:txBody>
      </p:sp>
      <p:sp>
        <p:nvSpPr>
          <p:cNvPr id="3" name="!!tuile-INJECTION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code-INJECTION"/>
          <p:cNvSpPr txBox="1"/>
          <p:nvPr/>
        </p:nvSpPr>
        <p:spPr>
          <a:xfrm rot="16200000">
            <a:off x="-1325880" y="2834640"/>
            <a:ext cx="6400800" cy="11887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ctr">
              <a:lnSpc>
                <a:spcPct val="100000"/>
              </a:lnSpc>
            </a:pPr>
            <a:r>
              <a:rPr sz="4800" lang="fr-FR">
                <a:solidFill>
                  <a:srgbClr val="121212"/>
                </a:solidFill>
                <a:latin typeface="Montserrat Black"/>
              </a:rPr>
              <a:t>INJECTION</a:t>
            </a:r>
          </a:p>
        </p:txBody>
      </p:sp>
      <p:sp>
        <p:nvSpPr>
          <p:cNvPr id="5" name="famille"/>
          <p:cNvSpPr txBox="1"/>
          <p:nvPr/>
        </p:nvSpPr>
        <p:spPr>
          <a:xfrm>
            <a:off x="4389120" y="502920"/>
            <a:ext cx="7253935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lang="fr-FR" spc="500">
                <a:solidFill>
                  <a:srgbClr val="C9A84C"/>
                </a:solidFill>
                <a:latin typeface="Montserrat ExtraBold"/>
              </a:rPr>
              <a:t>EMAILING · IA</a:t>
            </a:r>
          </a:p>
        </p:txBody>
      </p:sp>
      <p:sp>
        <p:nvSpPr>
          <p:cNvPr id="6" name="puce0"/>
          <p:cNvSpPr txBox="1"/>
          <p:nvPr/>
        </p:nvSpPr>
        <p:spPr>
          <a:xfrm>
            <a:off x="4389120" y="3520440"/>
            <a:ext cx="7253935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lang="fr-FR">
                <a:solidFill>
                  <a:srgbClr val="C9A84C"/>
                </a:solidFill>
                <a:latin typeface="Montserrat ExtraBold"/>
              </a:rPr>
              <a:t>— </a:t>
            </a:r>
            <a:r>
              <a:rPr sz="3200" lang="fr-FR">
                <a:solidFill>
                  <a:srgbClr val="FFFFFF"/>
                </a:solidFill>
                <a:latin typeface="Montserrat ExtraBold"/>
              </a:rPr>
              <a:t>Segmenter</a:t>
            </a:r>
          </a:p>
        </p:txBody>
      </p:sp>
      <p:sp>
        <p:nvSpPr>
          <p:cNvPr id="7" name="puce1"/>
          <p:cNvSpPr txBox="1"/>
          <p:nvPr/>
        </p:nvSpPr>
        <p:spPr>
          <a:xfrm>
            <a:off x="4389120" y="4178808"/>
            <a:ext cx="7253935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lang="fr-FR">
                <a:solidFill>
                  <a:srgbClr val="C9A84C"/>
                </a:solidFill>
                <a:latin typeface="Montserrat ExtraBold"/>
              </a:rPr>
              <a:t>— </a:t>
            </a:r>
            <a:r>
              <a:rPr sz="3200" lang="fr-FR">
                <a:solidFill>
                  <a:srgbClr val="FFFFFF"/>
                </a:solidFill>
                <a:latin typeface="Montserrat ExtraBold"/>
              </a:rPr>
              <a:t>Rédiger avec l'IA</a:t>
            </a:r>
          </a:p>
        </p:txBody>
      </p:sp>
      <p:sp>
        <p:nvSpPr>
          <p:cNvPr id="8" name="puce2"/>
          <p:cNvSpPr txBox="1"/>
          <p:nvPr/>
        </p:nvSpPr>
        <p:spPr>
          <a:xfrm>
            <a:off x="4389120" y="4837176"/>
            <a:ext cx="7253935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lang="fr-FR">
                <a:solidFill>
                  <a:srgbClr val="C9A84C"/>
                </a:solidFill>
                <a:latin typeface="Montserrat ExtraBold"/>
              </a:rPr>
              <a:t>— </a:t>
            </a:r>
            <a:r>
              <a:rPr sz="3200" lang="fr-FR">
                <a:solidFill>
                  <a:srgbClr val="FFFFFF"/>
                </a:solidFill>
                <a:latin typeface="Montserrat ExtraBold"/>
              </a:rPr>
              <a:t>Mesurer</a:t>
            </a:r>
          </a:p>
        </p:txBody>
      </p:sp>
      <p:sp>
        <p:nvSpPr>
          <p:cNvPr id="9" name="chip0"/>
          <p:cNvSpPr/>
          <p:nvPr/>
        </p:nvSpPr>
        <p:spPr>
          <a:xfrm>
            <a:off x="4389120" y="5532120"/>
            <a:ext cx="2194786" cy="621792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/>
            <a:r>
              <a:rPr sz="2400" lang="fr-FR">
                <a:solidFill>
                  <a:srgbClr val="FFFFFF"/>
                </a:solidFill>
                <a:latin typeface="Montserrat ExtraBold"/>
              </a:rPr>
              <a:t>1 jour · 8 h</a:t>
            </a:r>
          </a:p>
        </p:txBody>
      </p:sp>
      <p:sp>
        <p:nvSpPr>
          <p:cNvPr id="10" name="chip1"/>
          <p:cNvSpPr/>
          <p:nvPr/>
        </p:nvSpPr>
        <p:spPr>
          <a:xfrm>
            <a:off x="6812506" y="5532120"/>
            <a:ext cx="1270725" cy="621792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/>
            <a:r>
              <a:rPr sz="2400" lang="fr-FR">
                <a:solidFill>
                  <a:srgbClr val="FFFFFF"/>
                </a:solidFill>
                <a:latin typeface="Montserrat ExtraBold"/>
              </a:rPr>
              <a:t>Intra</a:t>
            </a:r>
          </a:p>
        </p:txBody>
      </p:sp>
      <p:sp>
        <p:nvSpPr>
          <p:cNvPr id="11" name="chip2"/>
          <p:cNvSpPr/>
          <p:nvPr/>
        </p:nvSpPr>
        <p:spPr>
          <a:xfrm>
            <a:off x="8311832" y="5532120"/>
            <a:ext cx="2564697" cy="621792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/>
            <a:r>
              <a:rPr sz="2400" lang="fr-FR">
                <a:solidFill>
                  <a:srgbClr val="FFFFFF"/>
                </a:solidFill>
                <a:latin typeface="Montserrat ExtraBold"/>
              </a:rPr>
              <a:t>RGPD inclus</a:t>
            </a:r>
          </a:p>
        </p:txBody>
      </p:sp>
      <p:pic>
        <p:nvPicPr>
          <p:cNvPr id="12" name="!!logo" descr="Emblème YEBA FORMATIONS : trois pitons reliés en résea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6236208"/>
            <a:ext cx="868680" cy="406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titre"/>
          <p:cNvSpPr>
            <a:spLocks noGrp="1"/>
          </p:cNvSpPr>
          <p:nvPr>
            <p:ph type="title"/>
          </p:nvPr>
        </p:nvSpPr>
        <p:spPr>
          <a:xfrm>
            <a:off x="731520" y="1920240"/>
            <a:ext cx="10728655" cy="3840480"/>
          </a:xfrm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lang="fr-FR">
                <a:solidFill>
                  <a:srgbClr val="FFFFFF"/>
                </a:solidFill>
                <a:latin typeface="Montserrat ExtraBold"/>
              </a:rPr>
              <a:t>Un site internet.</a:t>
            </a:r>
          </a:p>
          <a:p>
            <a:pPr algn="l">
              <a:lnSpc>
                <a:spcPct val="100000"/>
              </a:lnSpc>
            </a:pPr>
            <a:r>
              <a:rPr sz="7200" lang="fr-FR">
                <a:solidFill>
                  <a:srgbClr val="C9A84C"/>
                </a:solidFill>
                <a:latin typeface="Montserrat ExtraBold"/>
              </a:rPr>
              <a:t>Dicté. Devant vous.</a:t>
            </a:r>
          </a:p>
        </p:txBody>
      </p:sp>
      <p:sp>
        <p:nvSpPr>
          <p:cNvPr id="3" name="!!live"/>
          <p:cNvSpPr/>
          <p:nvPr/>
        </p:nvSpPr>
        <p:spPr>
          <a:xfrm>
            <a:off x="731520" y="914400"/>
            <a:ext cx="3291840" cy="685800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/>
            <a:r>
              <a:rPr sz="2600" lang="fr-FR" spc="300">
                <a:solidFill>
                  <a:srgbClr val="FFFFFF"/>
                </a:solidFill>
                <a:latin typeface="Montserrat ExtraBold"/>
              </a:rPr>
              <a:t>●  DÉMO LIVE</a:t>
            </a:r>
          </a:p>
        </p:txBody>
      </p:sp>
      <p:pic>
        <p:nvPicPr>
          <p:cNvPr id="4" name="!!logo" descr="Emblème YEBA FORMATIONS : trois pitons reliés en résea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6236208"/>
            <a:ext cx="868680" cy="406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titre"/>
          <p:cNvSpPr>
            <a:spLocks noGrp="1"/>
          </p:cNvSpPr>
          <p:nvPr>
            <p:ph type="title"/>
          </p:nvPr>
        </p:nvSpPr>
        <p:spPr>
          <a:xfrm>
            <a:off x="868680" y="1691640"/>
            <a:ext cx="9875520" cy="4023360"/>
          </a:xfrm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5000"/>
              </a:lnSpc>
            </a:pPr>
            <a:r>
              <a:rPr sz="6400" lang="fr-FR">
                <a:solidFill>
                  <a:srgbClr val="FFFFFF"/>
                </a:solidFill>
                <a:latin typeface="Montserrat ExtraBold"/>
              </a:rPr>
              <a:t>Former, c'est bien.</a:t>
            </a:r>
          </a:p>
          <a:p>
            <a:pPr algn="l">
              <a:lnSpc>
                <a:spcPct val="105000"/>
              </a:lnSpc>
            </a:pPr>
            <a:r>
              <a:rPr sz="6400" lang="fr-FR">
                <a:solidFill>
                  <a:srgbClr val="C9A84C"/>
                </a:solidFill>
                <a:latin typeface="Montserrat ExtraBold"/>
              </a:rPr>
              <a:t>Équiper, c'est mieux.</a:t>
            </a:r>
          </a:p>
        </p:txBody>
      </p:sp>
      <p:sp>
        <p:nvSpPr>
          <p:cNvPr id="3" name="!!barre"/>
          <p:cNvSpPr/>
          <p:nvPr/>
        </p:nvSpPr>
        <p:spPr>
          <a:xfrm>
            <a:off x="411480" y="1600200"/>
            <a:ext cx="128016" cy="39319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868680" y="1097280"/>
            <a:ext cx="7315200" cy="5029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lang="fr-FR" spc="600">
                <a:solidFill>
                  <a:srgbClr val="C9A84C"/>
                </a:solidFill>
                <a:latin typeface="Montserrat ExtraBold"/>
              </a:rPr>
              <a:t>ET MAINTENANT</a:t>
            </a:r>
          </a:p>
        </p:txBody>
      </p:sp>
      <p:pic>
        <p:nvPicPr>
          <p:cNvPr id="5" name="!!logo" descr="Emblème YEBA FORMATIONS : trois pitons reliés en résea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6236208"/>
            <a:ext cx="868680" cy="406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titre"/>
          <p:cNvSpPr>
            <a:spLocks noGrp="1"/>
          </p:cNvSpPr>
          <p:nvPr>
            <p:ph type="title"/>
          </p:nvPr>
        </p:nvSpPr>
        <p:spPr>
          <a:xfrm>
            <a:off x="731520" y="411480"/>
            <a:ext cx="7315200" cy="731520"/>
          </a:xfrm>
        </p:spPr>
        <p:txBody>
          <a:bodyPr wrap="square" anchor="t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lang="fr-FR">
                <a:solidFill>
                  <a:srgbClr val="FFFFFF"/>
                </a:solidFill>
                <a:latin typeface="Montserrat ExtraBold"/>
              </a:rPr>
              <a:t>Le fil de la soirée</a:t>
            </a:r>
          </a:p>
        </p:txBody>
      </p:sp>
      <p:sp>
        <p:nvSpPr>
          <p:cNvPr id="3" name="!!agn0"/>
          <p:cNvSpPr txBox="1"/>
          <p:nvPr/>
        </p:nvSpPr>
        <p:spPr>
          <a:xfrm>
            <a:off x="1051560" y="1325880"/>
            <a:ext cx="82296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 ExtraBold"/>
              </a:rPr>
              <a:t>01</a:t>
            </a:r>
          </a:p>
        </p:txBody>
      </p:sp>
      <p:sp>
        <p:nvSpPr>
          <p:cNvPr id="4" name="!!ag0"/>
          <p:cNvSpPr txBox="1"/>
          <p:nvPr/>
        </p:nvSpPr>
        <p:spPr>
          <a:xfrm>
            <a:off x="1920240" y="1325880"/>
            <a:ext cx="576072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"/>
              </a:rPr>
              <a:t>Présentation</a:t>
            </a:r>
          </a:p>
        </p:txBody>
      </p:sp>
      <p:sp>
        <p:nvSpPr>
          <p:cNvPr id="5" name="!!agn1"/>
          <p:cNvSpPr txBox="1"/>
          <p:nvPr/>
        </p:nvSpPr>
        <p:spPr>
          <a:xfrm>
            <a:off x="1051560" y="2057400"/>
            <a:ext cx="82296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 ExtraBold"/>
              </a:rPr>
              <a:t>02</a:t>
            </a:r>
          </a:p>
        </p:txBody>
      </p:sp>
      <p:sp>
        <p:nvSpPr>
          <p:cNvPr id="6" name="!!ag1"/>
          <p:cNvSpPr txBox="1"/>
          <p:nvPr/>
        </p:nvSpPr>
        <p:spPr>
          <a:xfrm>
            <a:off x="1920240" y="2057400"/>
            <a:ext cx="576072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"/>
              </a:rPr>
              <a:t>Histoire</a:t>
            </a:r>
          </a:p>
        </p:txBody>
      </p:sp>
      <p:sp>
        <p:nvSpPr>
          <p:cNvPr id="7" name="!!agn2"/>
          <p:cNvSpPr txBox="1"/>
          <p:nvPr/>
        </p:nvSpPr>
        <p:spPr>
          <a:xfrm>
            <a:off x="1051560" y="2788920"/>
            <a:ext cx="82296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 ExtraBold"/>
              </a:rPr>
              <a:t>03</a:t>
            </a:r>
          </a:p>
        </p:txBody>
      </p:sp>
      <p:sp>
        <p:nvSpPr>
          <p:cNvPr id="8" name="!!ag2"/>
          <p:cNvSpPr txBox="1"/>
          <p:nvPr/>
        </p:nvSpPr>
        <p:spPr>
          <a:xfrm>
            <a:off x="1920240" y="2788920"/>
            <a:ext cx="576072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"/>
              </a:rPr>
              <a:t>L'offre YEBA</a:t>
            </a:r>
          </a:p>
        </p:txBody>
      </p:sp>
      <p:sp>
        <p:nvSpPr>
          <p:cNvPr id="9" name="!!agn3"/>
          <p:cNvSpPr txBox="1"/>
          <p:nvPr/>
        </p:nvSpPr>
        <p:spPr>
          <a:xfrm>
            <a:off x="1051560" y="3520440"/>
            <a:ext cx="82296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 ExtraBold"/>
              </a:rPr>
              <a:t>04</a:t>
            </a:r>
          </a:p>
        </p:txBody>
      </p:sp>
      <p:sp>
        <p:nvSpPr>
          <p:cNvPr id="10" name="!!ag3"/>
          <p:cNvSpPr txBox="1"/>
          <p:nvPr/>
        </p:nvSpPr>
        <p:spPr>
          <a:xfrm>
            <a:off x="1920240" y="3520440"/>
            <a:ext cx="576072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"/>
              </a:rPr>
              <a:t>Nos formations</a:t>
            </a:r>
          </a:p>
        </p:txBody>
      </p:sp>
      <p:sp>
        <p:nvSpPr>
          <p:cNvPr id="11" name="!!agn4"/>
          <p:cNvSpPr txBox="1"/>
          <p:nvPr/>
        </p:nvSpPr>
        <p:spPr>
          <a:xfrm>
            <a:off x="1051560" y="4251960"/>
            <a:ext cx="82296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C9A84C"/>
                </a:solidFill>
                <a:latin typeface="Montserrat ExtraBold"/>
              </a:rPr>
              <a:t>05</a:t>
            </a:r>
          </a:p>
        </p:txBody>
      </p:sp>
      <p:sp>
        <p:nvSpPr>
          <p:cNvPr id="12" name="!!ag4"/>
          <p:cNvSpPr txBox="1"/>
          <p:nvPr/>
        </p:nvSpPr>
        <p:spPr>
          <a:xfrm>
            <a:off x="1920240" y="4251960"/>
            <a:ext cx="576072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lang="fr-FR">
                <a:solidFill>
                  <a:srgbClr val="FFFFFF"/>
                </a:solidFill>
                <a:latin typeface="Montserrat ExtraBold"/>
              </a:rPr>
              <a:t>Applications &amp; sites web</a:t>
            </a:r>
          </a:p>
        </p:txBody>
      </p:sp>
      <p:sp>
        <p:nvSpPr>
          <p:cNvPr id="13" name="!!agn5"/>
          <p:cNvSpPr txBox="1"/>
          <p:nvPr/>
        </p:nvSpPr>
        <p:spPr>
          <a:xfrm>
            <a:off x="1051560" y="4983480"/>
            <a:ext cx="82296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 ExtraBold"/>
              </a:rPr>
              <a:t>06</a:t>
            </a:r>
          </a:p>
        </p:txBody>
      </p:sp>
      <p:sp>
        <p:nvSpPr>
          <p:cNvPr id="14" name="!!ag5"/>
          <p:cNvSpPr txBox="1"/>
          <p:nvPr/>
        </p:nvSpPr>
        <p:spPr>
          <a:xfrm>
            <a:off x="1920240" y="4983480"/>
            <a:ext cx="576072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"/>
              </a:rPr>
              <a:t>Audit &amp; devis</a:t>
            </a:r>
          </a:p>
        </p:txBody>
      </p:sp>
      <p:sp>
        <p:nvSpPr>
          <p:cNvPr id="15" name="!!agn6"/>
          <p:cNvSpPr txBox="1"/>
          <p:nvPr/>
        </p:nvSpPr>
        <p:spPr>
          <a:xfrm>
            <a:off x="1051560" y="5715000"/>
            <a:ext cx="82296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 ExtraBold"/>
              </a:rPr>
              <a:t>07</a:t>
            </a:r>
          </a:p>
        </p:txBody>
      </p:sp>
      <p:sp>
        <p:nvSpPr>
          <p:cNvPr id="16" name="!!ag6"/>
          <p:cNvSpPr txBox="1"/>
          <p:nvPr/>
        </p:nvSpPr>
        <p:spPr>
          <a:xfrm>
            <a:off x="1920240" y="5715000"/>
            <a:ext cx="576072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"/>
              </a:rPr>
              <a:t>Mot de fin — offre soirée</a:t>
            </a:r>
          </a:p>
        </p:txBody>
      </p:sp>
      <p:sp>
        <p:nvSpPr>
          <p:cNvPr id="17" name="!!marqueur"/>
          <p:cNvSpPr/>
          <p:nvPr/>
        </p:nvSpPr>
        <p:spPr>
          <a:xfrm>
            <a:off x="731520" y="4325112"/>
            <a:ext cx="128016" cy="4937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agbig"/>
          <p:cNvSpPr txBox="1"/>
          <p:nvPr/>
        </p:nvSpPr>
        <p:spPr>
          <a:xfrm>
            <a:off x="7223760" y="1280160"/>
            <a:ext cx="4663440" cy="38404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lnSpc>
                <a:spcPct val="100000"/>
              </a:lnSpc>
            </a:pPr>
            <a:r>
              <a:rPr sz="21000" lang="fr-FR">
                <a:solidFill>
                  <a:srgbClr val="C9A84C"/>
                </a:solidFill>
                <a:latin typeface="Montserrat Black"/>
              </a:rPr>
              <a:t>05</a:t>
            </a:r>
          </a:p>
        </p:txBody>
      </p:sp>
      <p:pic>
        <p:nvPicPr>
          <p:cNvPr id="19" name="!!logo" descr="Emblème YEBA FORMATIONS : trois pitons reliés en résea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6236208"/>
            <a:ext cx="868680" cy="406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titre"/>
          <p:cNvSpPr>
            <a:spLocks noGrp="1"/>
          </p:cNvSpPr>
          <p:nvPr>
            <p:ph type="title"/>
          </p:nvPr>
        </p:nvSpPr>
        <p:spPr>
          <a:xfrm>
            <a:off x="731520" y="411480"/>
            <a:ext cx="7315200" cy="731520"/>
          </a:xfrm>
        </p:spPr>
        <p:txBody>
          <a:bodyPr wrap="square" anchor="t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lang="fr-FR">
                <a:solidFill>
                  <a:srgbClr val="FFFFFF"/>
                </a:solidFill>
                <a:latin typeface="Montserrat ExtraBold"/>
              </a:rPr>
              <a:t>Le fil de la soirée</a:t>
            </a:r>
          </a:p>
        </p:txBody>
      </p:sp>
      <p:sp>
        <p:nvSpPr>
          <p:cNvPr id="3" name="!!agn0"/>
          <p:cNvSpPr txBox="1"/>
          <p:nvPr/>
        </p:nvSpPr>
        <p:spPr>
          <a:xfrm>
            <a:off x="1051560" y="1325880"/>
            <a:ext cx="82296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 ExtraBold"/>
              </a:rPr>
              <a:t>01</a:t>
            </a:r>
          </a:p>
        </p:txBody>
      </p:sp>
      <p:sp>
        <p:nvSpPr>
          <p:cNvPr id="4" name="!!ag0"/>
          <p:cNvSpPr txBox="1"/>
          <p:nvPr/>
        </p:nvSpPr>
        <p:spPr>
          <a:xfrm>
            <a:off x="1920240" y="1325880"/>
            <a:ext cx="576072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"/>
              </a:rPr>
              <a:t>Présentation</a:t>
            </a:r>
          </a:p>
        </p:txBody>
      </p:sp>
      <p:sp>
        <p:nvSpPr>
          <p:cNvPr id="5" name="!!agn1"/>
          <p:cNvSpPr txBox="1"/>
          <p:nvPr/>
        </p:nvSpPr>
        <p:spPr>
          <a:xfrm>
            <a:off x="1051560" y="2057400"/>
            <a:ext cx="82296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 ExtraBold"/>
              </a:rPr>
              <a:t>02</a:t>
            </a:r>
          </a:p>
        </p:txBody>
      </p:sp>
      <p:sp>
        <p:nvSpPr>
          <p:cNvPr id="6" name="!!ag1"/>
          <p:cNvSpPr txBox="1"/>
          <p:nvPr/>
        </p:nvSpPr>
        <p:spPr>
          <a:xfrm>
            <a:off x="1920240" y="2057400"/>
            <a:ext cx="576072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"/>
              </a:rPr>
              <a:t>Histoire</a:t>
            </a:r>
          </a:p>
        </p:txBody>
      </p:sp>
      <p:sp>
        <p:nvSpPr>
          <p:cNvPr id="7" name="!!agn2"/>
          <p:cNvSpPr txBox="1"/>
          <p:nvPr/>
        </p:nvSpPr>
        <p:spPr>
          <a:xfrm>
            <a:off x="1051560" y="2788920"/>
            <a:ext cx="82296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 ExtraBold"/>
              </a:rPr>
              <a:t>03</a:t>
            </a:r>
          </a:p>
        </p:txBody>
      </p:sp>
      <p:sp>
        <p:nvSpPr>
          <p:cNvPr id="8" name="!!ag2"/>
          <p:cNvSpPr txBox="1"/>
          <p:nvPr/>
        </p:nvSpPr>
        <p:spPr>
          <a:xfrm>
            <a:off x="1920240" y="2788920"/>
            <a:ext cx="576072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"/>
              </a:rPr>
              <a:t>L'offre YEBA</a:t>
            </a:r>
          </a:p>
        </p:txBody>
      </p:sp>
      <p:sp>
        <p:nvSpPr>
          <p:cNvPr id="9" name="!!agn3"/>
          <p:cNvSpPr txBox="1"/>
          <p:nvPr/>
        </p:nvSpPr>
        <p:spPr>
          <a:xfrm>
            <a:off x="1051560" y="3520440"/>
            <a:ext cx="82296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 ExtraBold"/>
              </a:rPr>
              <a:t>04</a:t>
            </a:r>
          </a:p>
        </p:txBody>
      </p:sp>
      <p:sp>
        <p:nvSpPr>
          <p:cNvPr id="10" name="!!ag3"/>
          <p:cNvSpPr txBox="1"/>
          <p:nvPr/>
        </p:nvSpPr>
        <p:spPr>
          <a:xfrm>
            <a:off x="1920240" y="3520440"/>
            <a:ext cx="576072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"/>
              </a:rPr>
              <a:t>Nos formations</a:t>
            </a:r>
          </a:p>
        </p:txBody>
      </p:sp>
      <p:sp>
        <p:nvSpPr>
          <p:cNvPr id="11" name="!!agn4"/>
          <p:cNvSpPr txBox="1"/>
          <p:nvPr/>
        </p:nvSpPr>
        <p:spPr>
          <a:xfrm>
            <a:off x="1051560" y="4251960"/>
            <a:ext cx="82296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 ExtraBold"/>
              </a:rPr>
              <a:t>05</a:t>
            </a:r>
          </a:p>
        </p:txBody>
      </p:sp>
      <p:sp>
        <p:nvSpPr>
          <p:cNvPr id="12" name="!!ag4"/>
          <p:cNvSpPr txBox="1"/>
          <p:nvPr/>
        </p:nvSpPr>
        <p:spPr>
          <a:xfrm>
            <a:off x="1920240" y="4251960"/>
            <a:ext cx="576072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"/>
              </a:rPr>
              <a:t>Applications &amp; sites web</a:t>
            </a:r>
          </a:p>
        </p:txBody>
      </p:sp>
      <p:sp>
        <p:nvSpPr>
          <p:cNvPr id="13" name="!!agn5"/>
          <p:cNvSpPr txBox="1"/>
          <p:nvPr/>
        </p:nvSpPr>
        <p:spPr>
          <a:xfrm>
            <a:off x="1051560" y="4983480"/>
            <a:ext cx="82296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C9A84C"/>
                </a:solidFill>
                <a:latin typeface="Montserrat ExtraBold"/>
              </a:rPr>
              <a:t>06</a:t>
            </a:r>
          </a:p>
        </p:txBody>
      </p:sp>
      <p:sp>
        <p:nvSpPr>
          <p:cNvPr id="14" name="!!ag5"/>
          <p:cNvSpPr txBox="1"/>
          <p:nvPr/>
        </p:nvSpPr>
        <p:spPr>
          <a:xfrm>
            <a:off x="1920240" y="4983480"/>
            <a:ext cx="576072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lang="fr-FR">
                <a:solidFill>
                  <a:srgbClr val="FFFFFF"/>
                </a:solidFill>
                <a:latin typeface="Montserrat ExtraBold"/>
              </a:rPr>
              <a:t>Audit &amp; devis</a:t>
            </a:r>
          </a:p>
        </p:txBody>
      </p:sp>
      <p:sp>
        <p:nvSpPr>
          <p:cNvPr id="15" name="!!agn6"/>
          <p:cNvSpPr txBox="1"/>
          <p:nvPr/>
        </p:nvSpPr>
        <p:spPr>
          <a:xfrm>
            <a:off x="1051560" y="5715000"/>
            <a:ext cx="82296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 ExtraBold"/>
              </a:rPr>
              <a:t>07</a:t>
            </a:r>
          </a:p>
        </p:txBody>
      </p:sp>
      <p:sp>
        <p:nvSpPr>
          <p:cNvPr id="16" name="!!ag6"/>
          <p:cNvSpPr txBox="1"/>
          <p:nvPr/>
        </p:nvSpPr>
        <p:spPr>
          <a:xfrm>
            <a:off x="1920240" y="5715000"/>
            <a:ext cx="576072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"/>
              </a:rPr>
              <a:t>Mot de fin — offre soirée</a:t>
            </a:r>
          </a:p>
        </p:txBody>
      </p:sp>
      <p:sp>
        <p:nvSpPr>
          <p:cNvPr id="17" name="!!marqueur"/>
          <p:cNvSpPr/>
          <p:nvPr/>
        </p:nvSpPr>
        <p:spPr>
          <a:xfrm>
            <a:off x="731520" y="5056632"/>
            <a:ext cx="128016" cy="4937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agbig"/>
          <p:cNvSpPr txBox="1"/>
          <p:nvPr/>
        </p:nvSpPr>
        <p:spPr>
          <a:xfrm>
            <a:off x="7223760" y="1280160"/>
            <a:ext cx="4663440" cy="38404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lnSpc>
                <a:spcPct val="100000"/>
              </a:lnSpc>
            </a:pPr>
            <a:r>
              <a:rPr sz="21000" lang="fr-FR">
                <a:solidFill>
                  <a:srgbClr val="C9A84C"/>
                </a:solidFill>
                <a:latin typeface="Montserrat Black"/>
              </a:rPr>
              <a:t>06</a:t>
            </a:r>
          </a:p>
        </p:txBody>
      </p:sp>
      <p:pic>
        <p:nvPicPr>
          <p:cNvPr id="19" name="!!logo" descr="Emblème YEBA FORMATIONS : trois pitons reliés en résea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6236208"/>
            <a:ext cx="868680" cy="406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titre"/>
          <p:cNvSpPr>
            <a:spLocks noGrp="1"/>
          </p:cNvSpPr>
          <p:nvPr>
            <p:ph type="title"/>
          </p:nvPr>
        </p:nvSpPr>
        <p:spPr>
          <a:xfrm>
            <a:off x="731520" y="411480"/>
            <a:ext cx="7315200" cy="731520"/>
          </a:xfrm>
        </p:spPr>
        <p:txBody>
          <a:bodyPr wrap="square" anchor="t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lang="fr-FR">
                <a:solidFill>
                  <a:srgbClr val="FFFFFF"/>
                </a:solidFill>
                <a:latin typeface="Montserrat ExtraBold"/>
              </a:rPr>
              <a:t>Le fil de la soirée</a:t>
            </a:r>
          </a:p>
        </p:txBody>
      </p:sp>
      <p:sp>
        <p:nvSpPr>
          <p:cNvPr id="3" name="!!agn0"/>
          <p:cNvSpPr txBox="1"/>
          <p:nvPr/>
        </p:nvSpPr>
        <p:spPr>
          <a:xfrm>
            <a:off x="1051560" y="1325880"/>
            <a:ext cx="82296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 ExtraBold"/>
              </a:rPr>
              <a:t>01</a:t>
            </a:r>
          </a:p>
        </p:txBody>
      </p:sp>
      <p:sp>
        <p:nvSpPr>
          <p:cNvPr id="4" name="!!ag0"/>
          <p:cNvSpPr txBox="1"/>
          <p:nvPr/>
        </p:nvSpPr>
        <p:spPr>
          <a:xfrm>
            <a:off x="1920240" y="1325880"/>
            <a:ext cx="576072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"/>
              </a:rPr>
              <a:t>Présentation</a:t>
            </a:r>
          </a:p>
        </p:txBody>
      </p:sp>
      <p:sp>
        <p:nvSpPr>
          <p:cNvPr id="5" name="!!agn1"/>
          <p:cNvSpPr txBox="1"/>
          <p:nvPr/>
        </p:nvSpPr>
        <p:spPr>
          <a:xfrm>
            <a:off x="1051560" y="2057400"/>
            <a:ext cx="82296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 ExtraBold"/>
              </a:rPr>
              <a:t>02</a:t>
            </a:r>
          </a:p>
        </p:txBody>
      </p:sp>
      <p:sp>
        <p:nvSpPr>
          <p:cNvPr id="6" name="!!ag1"/>
          <p:cNvSpPr txBox="1"/>
          <p:nvPr/>
        </p:nvSpPr>
        <p:spPr>
          <a:xfrm>
            <a:off x="1920240" y="2057400"/>
            <a:ext cx="576072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"/>
              </a:rPr>
              <a:t>Histoire</a:t>
            </a:r>
          </a:p>
        </p:txBody>
      </p:sp>
      <p:sp>
        <p:nvSpPr>
          <p:cNvPr id="7" name="!!agn2"/>
          <p:cNvSpPr txBox="1"/>
          <p:nvPr/>
        </p:nvSpPr>
        <p:spPr>
          <a:xfrm>
            <a:off x="1051560" y="2788920"/>
            <a:ext cx="82296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 ExtraBold"/>
              </a:rPr>
              <a:t>03</a:t>
            </a:r>
          </a:p>
        </p:txBody>
      </p:sp>
      <p:sp>
        <p:nvSpPr>
          <p:cNvPr id="8" name="!!ag2"/>
          <p:cNvSpPr txBox="1"/>
          <p:nvPr/>
        </p:nvSpPr>
        <p:spPr>
          <a:xfrm>
            <a:off x="1920240" y="2788920"/>
            <a:ext cx="576072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"/>
              </a:rPr>
              <a:t>L'offre YEBA</a:t>
            </a:r>
          </a:p>
        </p:txBody>
      </p:sp>
      <p:sp>
        <p:nvSpPr>
          <p:cNvPr id="9" name="!!agn3"/>
          <p:cNvSpPr txBox="1"/>
          <p:nvPr/>
        </p:nvSpPr>
        <p:spPr>
          <a:xfrm>
            <a:off x="1051560" y="3520440"/>
            <a:ext cx="82296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 ExtraBold"/>
              </a:rPr>
              <a:t>04</a:t>
            </a:r>
          </a:p>
        </p:txBody>
      </p:sp>
      <p:sp>
        <p:nvSpPr>
          <p:cNvPr id="10" name="!!ag3"/>
          <p:cNvSpPr txBox="1"/>
          <p:nvPr/>
        </p:nvSpPr>
        <p:spPr>
          <a:xfrm>
            <a:off x="1920240" y="3520440"/>
            <a:ext cx="576072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"/>
              </a:rPr>
              <a:t>Nos formations</a:t>
            </a:r>
          </a:p>
        </p:txBody>
      </p:sp>
      <p:sp>
        <p:nvSpPr>
          <p:cNvPr id="11" name="!!agn4"/>
          <p:cNvSpPr txBox="1"/>
          <p:nvPr/>
        </p:nvSpPr>
        <p:spPr>
          <a:xfrm>
            <a:off x="1051560" y="4251960"/>
            <a:ext cx="82296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 ExtraBold"/>
              </a:rPr>
              <a:t>05</a:t>
            </a:r>
          </a:p>
        </p:txBody>
      </p:sp>
      <p:sp>
        <p:nvSpPr>
          <p:cNvPr id="12" name="!!ag4"/>
          <p:cNvSpPr txBox="1"/>
          <p:nvPr/>
        </p:nvSpPr>
        <p:spPr>
          <a:xfrm>
            <a:off x="1920240" y="4251960"/>
            <a:ext cx="576072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"/>
              </a:rPr>
              <a:t>Applications &amp; sites web</a:t>
            </a:r>
          </a:p>
        </p:txBody>
      </p:sp>
      <p:sp>
        <p:nvSpPr>
          <p:cNvPr id="13" name="!!agn5"/>
          <p:cNvSpPr txBox="1"/>
          <p:nvPr/>
        </p:nvSpPr>
        <p:spPr>
          <a:xfrm>
            <a:off x="1051560" y="4983480"/>
            <a:ext cx="82296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 ExtraBold"/>
              </a:rPr>
              <a:t>06</a:t>
            </a:r>
          </a:p>
        </p:txBody>
      </p:sp>
      <p:sp>
        <p:nvSpPr>
          <p:cNvPr id="14" name="!!ag5"/>
          <p:cNvSpPr txBox="1"/>
          <p:nvPr/>
        </p:nvSpPr>
        <p:spPr>
          <a:xfrm>
            <a:off x="1920240" y="4983480"/>
            <a:ext cx="576072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8C93A0"/>
                </a:solidFill>
                <a:latin typeface="Montserrat"/>
              </a:rPr>
              <a:t>Audit &amp; devis</a:t>
            </a:r>
          </a:p>
        </p:txBody>
      </p:sp>
      <p:sp>
        <p:nvSpPr>
          <p:cNvPr id="15" name="!!agn6"/>
          <p:cNvSpPr txBox="1"/>
          <p:nvPr/>
        </p:nvSpPr>
        <p:spPr>
          <a:xfrm>
            <a:off x="1051560" y="5715000"/>
            <a:ext cx="82296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lang="fr-FR">
                <a:solidFill>
                  <a:srgbClr val="C9A84C"/>
                </a:solidFill>
                <a:latin typeface="Montserrat ExtraBold"/>
              </a:rPr>
              <a:t>07</a:t>
            </a:r>
          </a:p>
        </p:txBody>
      </p:sp>
      <p:sp>
        <p:nvSpPr>
          <p:cNvPr id="16" name="!!ag6"/>
          <p:cNvSpPr txBox="1"/>
          <p:nvPr/>
        </p:nvSpPr>
        <p:spPr>
          <a:xfrm>
            <a:off x="1920240" y="5715000"/>
            <a:ext cx="576072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lang="fr-FR">
                <a:solidFill>
                  <a:srgbClr val="FFFFFF"/>
                </a:solidFill>
                <a:latin typeface="Montserrat ExtraBold"/>
              </a:rPr>
              <a:t>Mot de fin — offre soirée</a:t>
            </a:r>
          </a:p>
        </p:txBody>
      </p:sp>
      <p:sp>
        <p:nvSpPr>
          <p:cNvPr id="17" name="!!marqueur"/>
          <p:cNvSpPr/>
          <p:nvPr/>
        </p:nvSpPr>
        <p:spPr>
          <a:xfrm>
            <a:off x="731520" y="5788152"/>
            <a:ext cx="128016" cy="4937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agbig"/>
          <p:cNvSpPr txBox="1"/>
          <p:nvPr/>
        </p:nvSpPr>
        <p:spPr>
          <a:xfrm>
            <a:off x="7223760" y="1280160"/>
            <a:ext cx="4663440" cy="38404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lnSpc>
                <a:spcPct val="100000"/>
              </a:lnSpc>
            </a:pPr>
            <a:r>
              <a:rPr sz="21000" lang="fr-FR">
                <a:solidFill>
                  <a:srgbClr val="C9A84C"/>
                </a:solidFill>
                <a:latin typeface="Montserrat Black"/>
              </a:rPr>
              <a:t>07</a:t>
            </a:r>
          </a:p>
        </p:txBody>
      </p:sp>
      <p:pic>
        <p:nvPicPr>
          <p:cNvPr id="19" name="!!logo" descr="Emblème YEBA FORMATIONS : trois pitons reliés en résea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6236208"/>
            <a:ext cx="868680" cy="406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YEBA FORMATIONS — Soirée de lancement</dc:title>
  <dc:subject>Soirée de lancement — présentation, histoire, offre, formations</dc:subject>
  <dc:creator>YEBA FORMATIONS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fr-FR</dc:language>
</cp:coreProperties>
</file>